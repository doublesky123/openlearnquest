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38912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3891200" cy="2926080"/>
          </a:xfrm>
          <a:prstGeom prst="rect">
            <a:avLst/>
          </a:prstGeom>
          <a:solidFill>
            <a:srgbClr val="1A1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61488"/>
            <a:ext cx="43891200" cy="16459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320040"/>
            <a:ext cx="32918400" cy="1463040"/>
          </a:xfrm>
          <a:prstGeom prst="rect">
            <a:avLst/>
          </a:prstGeom>
          <a:noFill/>
        </p:spPr>
        <p:txBody>
          <a:bodyPr wrap="square">
            <a:spAutoFit/>
          </a:bodyPr>
          <a:lstStyle/>
          <a:p>
            <a:pPr algn="l"/>
            <a:r>
              <a:rPr sz="2800" b="1" i="0">
                <a:solidFill>
                  <a:srgbClr val="FFFFFF"/>
                </a:solidFill>
              </a:rPr>
              <a:t>OpenLearnQuest: Iterative Design of a Gamified
Adaptive Learning Platform for Algorithm Education</a:t>
            </a:r>
          </a:p>
        </p:txBody>
      </p:sp>
      <p:sp>
        <p:nvSpPr>
          <p:cNvPr id="5" name="TextBox 4"/>
          <p:cNvSpPr txBox="1"/>
          <p:nvPr/>
        </p:nvSpPr>
        <p:spPr>
          <a:xfrm>
            <a:off x="274320" y="1874519"/>
            <a:ext cx="32918400" cy="457200"/>
          </a:xfrm>
          <a:prstGeom prst="rect">
            <a:avLst/>
          </a:prstGeom>
          <a:noFill/>
        </p:spPr>
        <p:txBody>
          <a:bodyPr wrap="square">
            <a:spAutoFit/>
          </a:bodyPr>
          <a:lstStyle/>
          <a:p>
            <a:pPr algn="l"/>
            <a:r>
              <a:rPr sz="1400" b="0" i="0">
                <a:solidFill>
                  <a:srgbClr val="CCCCCC"/>
                </a:solidFill>
              </a:rPr>
              <a:t>Kunyi Qiu  ·  Advisor: [Professor Name]</a:t>
            </a:r>
          </a:p>
        </p:txBody>
      </p:sp>
      <p:sp>
        <p:nvSpPr>
          <p:cNvPr id="6" name="TextBox 5"/>
          <p:cNvSpPr txBox="1"/>
          <p:nvPr/>
        </p:nvSpPr>
        <p:spPr>
          <a:xfrm>
            <a:off x="274320" y="2286000"/>
            <a:ext cx="32918400" cy="411480"/>
          </a:xfrm>
          <a:prstGeom prst="rect">
            <a:avLst/>
          </a:prstGeom>
          <a:noFill/>
        </p:spPr>
        <p:txBody>
          <a:bodyPr wrap="square">
            <a:spAutoFit/>
          </a:bodyPr>
          <a:lstStyle/>
          <a:p>
            <a:pPr algn="l"/>
            <a:r>
              <a:rPr sz="1200" b="0" i="0">
                <a:solidFill>
                  <a:srgbClr val="AAAAAA"/>
                </a:solidFill>
              </a:rPr>
              <a:t>Khoury College of Computer Science  ·  Northeastern University Silicon Valley</a:t>
            </a:r>
          </a:p>
        </p:txBody>
      </p:sp>
      <p:sp>
        <p:nvSpPr>
          <p:cNvPr id="7" name="Rectangle 6"/>
          <p:cNvSpPr/>
          <p:nvPr/>
        </p:nvSpPr>
        <p:spPr>
          <a:xfrm>
            <a:off x="39776400" y="457200"/>
            <a:ext cx="3840480" cy="118872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9776400" y="594360"/>
            <a:ext cx="3840480" cy="914400"/>
          </a:xfrm>
          <a:prstGeom prst="rect">
            <a:avLst/>
          </a:prstGeom>
          <a:noFill/>
        </p:spPr>
        <p:txBody>
          <a:bodyPr wrap="square">
            <a:spAutoFit/>
          </a:bodyPr>
          <a:lstStyle/>
          <a:p>
            <a:pPr algn="ctr"/>
            <a:r>
              <a:rPr sz="1300" b="1" i="0">
                <a:solidFill>
                  <a:srgbClr val="CC0000"/>
                </a:solidFill>
              </a:rPr>
              <a:t>NORTHEASTERN
UNIVERSITY</a:t>
            </a:r>
          </a:p>
        </p:txBody>
      </p:sp>
      <p:sp>
        <p:nvSpPr>
          <p:cNvPr id="9" name="Rectangle 8"/>
          <p:cNvSpPr/>
          <p:nvPr/>
        </p:nvSpPr>
        <p:spPr>
          <a:xfrm>
            <a:off x="40050720" y="1874519"/>
            <a:ext cx="3291840" cy="50292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050720" y="1920240"/>
            <a:ext cx="3291840" cy="411480"/>
          </a:xfrm>
          <a:prstGeom prst="rect">
            <a:avLst/>
          </a:prstGeom>
          <a:noFill/>
        </p:spPr>
        <p:txBody>
          <a:bodyPr wrap="square">
            <a:spAutoFit/>
          </a:bodyPr>
          <a:lstStyle/>
          <a:p>
            <a:pPr algn="ctr"/>
            <a:r>
              <a:rPr sz="1200" b="1" i="0">
                <a:solidFill>
                  <a:srgbClr val="FFFFFF"/>
                </a:solidFill>
              </a:rPr>
              <a:t>Poster #:  ___</a:t>
            </a:r>
          </a:p>
        </p:txBody>
      </p:sp>
      <p:sp>
        <p:nvSpPr>
          <p:cNvPr id="11" name="Rectangle 10"/>
          <p:cNvSpPr/>
          <p:nvPr/>
        </p:nvSpPr>
        <p:spPr>
          <a:xfrm>
            <a:off x="274320" y="3246120"/>
            <a:ext cx="9601200" cy="6537959"/>
          </a:xfrm>
          <a:prstGeom prst="rect">
            <a:avLst/>
          </a:prstGeom>
          <a:solidFill>
            <a:srgbClr val="F7F8FC"/>
          </a:solidFill>
          <a:ln w="9525">
            <a:solidFill>
              <a:srgbClr val="DCE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 y="3246120"/>
            <a:ext cx="9601200" cy="320040"/>
          </a:xfrm>
          <a:prstGeom prst="rect">
            <a:avLst/>
          </a:prstGeom>
          <a:solidFill>
            <a:srgbClr val="1A1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7472" y="3273552"/>
            <a:ext cx="9454896" cy="265176"/>
          </a:xfrm>
          <a:prstGeom prst="rect">
            <a:avLst/>
          </a:prstGeom>
          <a:noFill/>
        </p:spPr>
        <p:txBody>
          <a:bodyPr wrap="square">
            <a:spAutoFit/>
          </a:bodyPr>
          <a:lstStyle/>
          <a:p>
            <a:pPr algn="l"/>
            <a:r>
              <a:rPr sz="1000" b="1" i="0">
                <a:solidFill>
                  <a:srgbClr val="FFFFFF"/>
                </a:solidFill>
              </a:rPr>
              <a:t>BACKGROUND &amp; MOTIVATION</a:t>
            </a:r>
          </a:p>
        </p:txBody>
      </p:sp>
      <p:sp>
        <p:nvSpPr>
          <p:cNvPr id="14" name="TextBox 13"/>
          <p:cNvSpPr txBox="1"/>
          <p:nvPr/>
        </p:nvSpPr>
        <p:spPr>
          <a:xfrm>
            <a:off x="365760" y="3639312"/>
            <a:ext cx="9418320" cy="656539"/>
          </a:xfrm>
          <a:prstGeom prst="rect">
            <a:avLst/>
          </a:prstGeom>
          <a:noFill/>
        </p:spPr>
        <p:txBody>
          <a:bodyPr wrap="square">
            <a:spAutoFit/>
          </a:bodyPr>
          <a:lstStyle/>
          <a:p>
            <a:pPr algn="l"/>
            <a:r>
              <a:rPr sz="1100" b="0" i="0">
                <a:solidFill>
                  <a:srgbClr val="111111"/>
                </a:solidFill>
              </a:rPr>
              <a:t>Algorithm education presents a persistent challenge: concepts like</a:t>
            </a:r>
          </a:p>
        </p:txBody>
      </p:sp>
      <p:sp>
        <p:nvSpPr>
          <p:cNvPr id="15" name="TextBox 14"/>
          <p:cNvSpPr txBox="1"/>
          <p:nvPr/>
        </p:nvSpPr>
        <p:spPr>
          <a:xfrm>
            <a:off x="365760" y="4250131"/>
            <a:ext cx="9418320" cy="656539"/>
          </a:xfrm>
          <a:prstGeom prst="rect">
            <a:avLst/>
          </a:prstGeom>
          <a:noFill/>
        </p:spPr>
        <p:txBody>
          <a:bodyPr wrap="square">
            <a:spAutoFit/>
          </a:bodyPr>
          <a:lstStyle/>
          <a:p>
            <a:pPr algn="l"/>
            <a:r>
              <a:rPr sz="1100" b="0" i="0">
                <a:solidFill>
                  <a:srgbClr val="111111"/>
                </a:solidFill>
              </a:rPr>
              <a:t>linked lists, trees, and graphs are interconnected, yet most tools</a:t>
            </a:r>
          </a:p>
        </p:txBody>
      </p:sp>
      <p:sp>
        <p:nvSpPr>
          <p:cNvPr id="16" name="TextBox 15"/>
          <p:cNvSpPr txBox="1"/>
          <p:nvPr/>
        </p:nvSpPr>
        <p:spPr>
          <a:xfrm>
            <a:off x="365760" y="4860950"/>
            <a:ext cx="9418320" cy="656539"/>
          </a:xfrm>
          <a:prstGeom prst="rect">
            <a:avLst/>
          </a:prstGeom>
          <a:noFill/>
        </p:spPr>
        <p:txBody>
          <a:bodyPr wrap="square">
            <a:spAutoFit/>
          </a:bodyPr>
          <a:lstStyle/>
          <a:p>
            <a:pPr algn="l"/>
            <a:r>
              <a:rPr sz="1100" b="0" i="0">
                <a:solidFill>
                  <a:srgbClr val="111111"/>
                </a:solidFill>
              </a:rPr>
              <a:t>treat them in isolation. A literature review revealed a critical gap:</a:t>
            </a:r>
          </a:p>
        </p:txBody>
      </p:sp>
      <p:sp>
        <p:nvSpPr>
          <p:cNvPr id="17" name="TextBox 16"/>
          <p:cNvSpPr txBox="1"/>
          <p:nvPr/>
        </p:nvSpPr>
        <p:spPr>
          <a:xfrm>
            <a:off x="365760" y="5471769"/>
            <a:ext cx="9418320" cy="656539"/>
          </a:xfrm>
          <a:prstGeom prst="rect">
            <a:avLst/>
          </a:prstGeom>
          <a:noFill/>
        </p:spPr>
        <p:txBody>
          <a:bodyPr wrap="square">
            <a:spAutoFit/>
          </a:bodyPr>
          <a:lstStyle/>
          <a:p>
            <a:pPr algn="l"/>
            <a:r>
              <a:rPr sz="1100" b="0" i="0">
                <a:solidFill>
                  <a:srgbClr val="111111"/>
                </a:solidFill>
              </a:rPr>
              <a:t/>
            </a:r>
          </a:p>
        </p:txBody>
      </p:sp>
      <p:sp>
        <p:nvSpPr>
          <p:cNvPr id="18" name="TextBox 17"/>
          <p:cNvSpPr txBox="1"/>
          <p:nvPr/>
        </p:nvSpPr>
        <p:spPr>
          <a:xfrm>
            <a:off x="365760" y="6082588"/>
            <a:ext cx="9418320" cy="656539"/>
          </a:xfrm>
          <a:prstGeom prst="rect">
            <a:avLst/>
          </a:prstGeom>
          <a:noFill/>
        </p:spPr>
        <p:txBody>
          <a:bodyPr wrap="square">
            <a:spAutoFit/>
          </a:bodyPr>
          <a:lstStyle/>
          <a:p>
            <a:pPr algn="l"/>
            <a:r>
              <a:rPr sz="1100" b="0" i="0">
                <a:solidFill>
                  <a:srgbClr val="111111"/>
                </a:solidFill>
              </a:rPr>
              <a:t>• General learning platforms offer engagement but lack algorithm depth</a:t>
            </a:r>
          </a:p>
        </p:txBody>
      </p:sp>
      <p:sp>
        <p:nvSpPr>
          <p:cNvPr id="19" name="TextBox 18"/>
          <p:cNvSpPr txBox="1"/>
          <p:nvPr/>
        </p:nvSpPr>
        <p:spPr>
          <a:xfrm>
            <a:off x="365760" y="6693408"/>
            <a:ext cx="9418320" cy="656539"/>
          </a:xfrm>
          <a:prstGeom prst="rect">
            <a:avLst/>
          </a:prstGeom>
          <a:noFill/>
        </p:spPr>
        <p:txBody>
          <a:bodyPr wrap="square">
            <a:spAutoFit/>
          </a:bodyPr>
          <a:lstStyle/>
          <a:p>
            <a:pPr algn="l"/>
            <a:r>
              <a:rPr sz="1100" b="0" i="0">
                <a:solidFill>
                  <a:srgbClr val="111111"/>
                </a:solidFill>
              </a:rPr>
              <a:t>• Algorithm practice sites offer depth but are not novice-friendly</a:t>
            </a:r>
          </a:p>
        </p:txBody>
      </p:sp>
      <p:sp>
        <p:nvSpPr>
          <p:cNvPr id="20" name="TextBox 19"/>
          <p:cNvSpPr txBox="1"/>
          <p:nvPr/>
        </p:nvSpPr>
        <p:spPr>
          <a:xfrm>
            <a:off x="365760" y="7304227"/>
            <a:ext cx="9418320" cy="656539"/>
          </a:xfrm>
          <a:prstGeom prst="rect">
            <a:avLst/>
          </a:prstGeom>
          <a:noFill/>
        </p:spPr>
        <p:txBody>
          <a:bodyPr wrap="square">
            <a:spAutoFit/>
          </a:bodyPr>
          <a:lstStyle/>
          <a:p>
            <a:pPr algn="l"/>
            <a:r>
              <a:rPr sz="1100" b="0" i="0">
                <a:solidFill>
                  <a:srgbClr val="111111"/>
                </a:solidFill>
              </a:rPr>
              <a:t>• Educational games teach syntax, not data structure reasoning</a:t>
            </a:r>
          </a:p>
        </p:txBody>
      </p:sp>
      <p:sp>
        <p:nvSpPr>
          <p:cNvPr id="21" name="TextBox 20"/>
          <p:cNvSpPr txBox="1"/>
          <p:nvPr/>
        </p:nvSpPr>
        <p:spPr>
          <a:xfrm>
            <a:off x="365760" y="7915046"/>
            <a:ext cx="9418320" cy="656539"/>
          </a:xfrm>
          <a:prstGeom prst="rect">
            <a:avLst/>
          </a:prstGeom>
          <a:noFill/>
        </p:spPr>
        <p:txBody>
          <a:bodyPr wrap="square">
            <a:spAutoFit/>
          </a:bodyPr>
          <a:lstStyle/>
          <a:p>
            <a:pPr algn="l"/>
            <a:r>
              <a:rPr sz="1100" b="0" i="0">
                <a:solidFill>
                  <a:srgbClr val="111111"/>
                </a:solidFill>
              </a:rPr>
              <a:t/>
            </a:r>
          </a:p>
        </p:txBody>
      </p:sp>
      <p:sp>
        <p:nvSpPr>
          <p:cNvPr id="22" name="TextBox 21"/>
          <p:cNvSpPr txBox="1"/>
          <p:nvPr/>
        </p:nvSpPr>
        <p:spPr>
          <a:xfrm>
            <a:off x="365760" y="8525865"/>
            <a:ext cx="9418320" cy="656539"/>
          </a:xfrm>
          <a:prstGeom prst="rect">
            <a:avLst/>
          </a:prstGeom>
          <a:noFill/>
        </p:spPr>
        <p:txBody>
          <a:bodyPr wrap="square">
            <a:spAutoFit/>
          </a:bodyPr>
          <a:lstStyle/>
          <a:p>
            <a:pPr algn="l"/>
            <a:r>
              <a:rPr sz="1100" b="0" i="0">
                <a:solidFill>
                  <a:srgbClr val="111111"/>
                </a:solidFill>
              </a:rPr>
              <a:t>No existing platform combines gamified interaction with adaptive</a:t>
            </a:r>
          </a:p>
        </p:txBody>
      </p:sp>
      <p:sp>
        <p:nvSpPr>
          <p:cNvPr id="23" name="TextBox 22"/>
          <p:cNvSpPr txBox="1"/>
          <p:nvPr/>
        </p:nvSpPr>
        <p:spPr>
          <a:xfrm>
            <a:off x="365760" y="9136684"/>
            <a:ext cx="9418320" cy="656539"/>
          </a:xfrm>
          <a:prstGeom prst="rect">
            <a:avLst/>
          </a:prstGeom>
          <a:noFill/>
        </p:spPr>
        <p:txBody>
          <a:bodyPr wrap="square">
            <a:spAutoFit/>
          </a:bodyPr>
          <a:lstStyle/>
          <a:p>
            <a:pPr algn="l"/>
            <a:r>
              <a:rPr sz="1100" b="0" i="0">
                <a:solidFill>
                  <a:srgbClr val="111111"/>
                </a:solidFill>
              </a:rPr>
              <a:t>prerequisite routing for algorithm concept learning.</a:t>
            </a:r>
          </a:p>
        </p:txBody>
      </p:sp>
      <p:sp>
        <p:nvSpPr>
          <p:cNvPr id="24" name="Rectangle 23"/>
          <p:cNvSpPr/>
          <p:nvPr/>
        </p:nvSpPr>
        <p:spPr>
          <a:xfrm>
            <a:off x="274320" y="10012680"/>
            <a:ext cx="9601200" cy="4892040"/>
          </a:xfrm>
          <a:prstGeom prst="rect">
            <a:avLst/>
          </a:prstGeom>
          <a:solidFill>
            <a:srgbClr val="F7F8FC"/>
          </a:solidFill>
          <a:ln w="9525">
            <a:solidFill>
              <a:srgbClr val="DCE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74320" y="10012680"/>
            <a:ext cx="9601200" cy="320040"/>
          </a:xfrm>
          <a:prstGeom prst="rect">
            <a:avLst/>
          </a:prstGeom>
          <a:solidFill>
            <a:srgbClr val="1A1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7472" y="10040111"/>
            <a:ext cx="9454896" cy="265176"/>
          </a:xfrm>
          <a:prstGeom prst="rect">
            <a:avLst/>
          </a:prstGeom>
          <a:noFill/>
        </p:spPr>
        <p:txBody>
          <a:bodyPr wrap="square">
            <a:spAutoFit/>
          </a:bodyPr>
          <a:lstStyle/>
          <a:p>
            <a:pPr algn="l"/>
            <a:r>
              <a:rPr sz="1000" b="1" i="0">
                <a:solidFill>
                  <a:srgbClr val="FFFFFF"/>
                </a:solidFill>
              </a:rPr>
              <a:t>PROBLEM STATEMENT</a:t>
            </a:r>
          </a:p>
        </p:txBody>
      </p:sp>
      <p:sp>
        <p:nvSpPr>
          <p:cNvPr id="27" name="TextBox 26"/>
          <p:cNvSpPr txBox="1"/>
          <p:nvPr/>
        </p:nvSpPr>
        <p:spPr>
          <a:xfrm>
            <a:off x="365760" y="10405872"/>
            <a:ext cx="9418320" cy="541528"/>
          </a:xfrm>
          <a:prstGeom prst="rect">
            <a:avLst/>
          </a:prstGeom>
          <a:noFill/>
        </p:spPr>
        <p:txBody>
          <a:bodyPr wrap="square">
            <a:spAutoFit/>
          </a:bodyPr>
          <a:lstStyle/>
          <a:p>
            <a:pPr algn="l"/>
            <a:r>
              <a:rPr sz="1100" b="0" i="0">
                <a:solidFill>
                  <a:srgbClr val="111111"/>
                </a:solidFill>
              </a:rPr>
              <a:t>When students learn a complex algorithm (e.g., doubly linked list</a:t>
            </a:r>
          </a:p>
        </p:txBody>
      </p:sp>
      <p:sp>
        <p:nvSpPr>
          <p:cNvPr id="28" name="TextBox 27"/>
          <p:cNvSpPr txBox="1"/>
          <p:nvPr/>
        </p:nvSpPr>
        <p:spPr>
          <a:xfrm>
            <a:off x="365760" y="10901679"/>
            <a:ext cx="9418320" cy="541528"/>
          </a:xfrm>
          <a:prstGeom prst="rect">
            <a:avLst/>
          </a:prstGeom>
          <a:noFill/>
        </p:spPr>
        <p:txBody>
          <a:bodyPr wrap="square">
            <a:spAutoFit/>
          </a:bodyPr>
          <a:lstStyle/>
          <a:p>
            <a:pPr algn="l"/>
            <a:r>
              <a:rPr sz="1100" b="0" i="0">
                <a:solidFill>
                  <a:srgbClr val="111111"/>
                </a:solidFill>
              </a:rPr>
              <a:t>operations), they frequently discover mid-session that they lack</a:t>
            </a:r>
          </a:p>
        </p:txBody>
      </p:sp>
      <p:sp>
        <p:nvSpPr>
          <p:cNvPr id="29" name="TextBox 28"/>
          <p:cNvSpPr txBox="1"/>
          <p:nvPr/>
        </p:nvSpPr>
        <p:spPr>
          <a:xfrm>
            <a:off x="365760" y="11397487"/>
            <a:ext cx="9418320" cy="541528"/>
          </a:xfrm>
          <a:prstGeom prst="rect">
            <a:avLst/>
          </a:prstGeom>
          <a:noFill/>
        </p:spPr>
        <p:txBody>
          <a:bodyPr wrap="square">
            <a:spAutoFit/>
          </a:bodyPr>
          <a:lstStyle/>
          <a:p>
            <a:pPr algn="l"/>
            <a:r>
              <a:rPr sz="1100" b="0" i="0">
                <a:solidFill>
                  <a:srgbClr val="111111"/>
                </a:solidFill>
              </a:rPr>
              <a:t>understanding of a simpler prerequisite concept. Current platforms</a:t>
            </a:r>
          </a:p>
        </p:txBody>
      </p:sp>
      <p:sp>
        <p:nvSpPr>
          <p:cNvPr id="30" name="TextBox 29"/>
          <p:cNvSpPr txBox="1"/>
          <p:nvPr/>
        </p:nvSpPr>
        <p:spPr>
          <a:xfrm>
            <a:off x="365760" y="11893296"/>
            <a:ext cx="9418320" cy="541528"/>
          </a:xfrm>
          <a:prstGeom prst="rect">
            <a:avLst/>
          </a:prstGeom>
          <a:noFill/>
        </p:spPr>
        <p:txBody>
          <a:bodyPr wrap="square">
            <a:spAutoFit/>
          </a:bodyPr>
          <a:lstStyle/>
          <a:p>
            <a:pPr algn="l"/>
            <a:r>
              <a:rPr sz="1100" b="0" i="0">
                <a:solidFill>
                  <a:srgbClr val="111111"/>
                </a:solidFill>
              </a:rPr>
              <a:t>provide no structured mechanism to detect this gap and route students</a:t>
            </a:r>
          </a:p>
        </p:txBody>
      </p:sp>
      <p:sp>
        <p:nvSpPr>
          <p:cNvPr id="31" name="TextBox 30"/>
          <p:cNvSpPr txBox="1"/>
          <p:nvPr/>
        </p:nvSpPr>
        <p:spPr>
          <a:xfrm>
            <a:off x="365760" y="12389103"/>
            <a:ext cx="9418320" cy="541528"/>
          </a:xfrm>
          <a:prstGeom prst="rect">
            <a:avLst/>
          </a:prstGeom>
          <a:noFill/>
        </p:spPr>
        <p:txBody>
          <a:bodyPr wrap="square">
            <a:spAutoFit/>
          </a:bodyPr>
          <a:lstStyle/>
          <a:p>
            <a:pPr algn="l"/>
            <a:r>
              <a:rPr sz="1100" b="0" i="0">
                <a:solidFill>
                  <a:srgbClr val="111111"/>
                </a:solidFill>
              </a:rPr>
              <a:t>to remedial content without disrupting their learning flow.</a:t>
            </a:r>
          </a:p>
        </p:txBody>
      </p:sp>
      <p:sp>
        <p:nvSpPr>
          <p:cNvPr id="32" name="TextBox 31"/>
          <p:cNvSpPr txBox="1"/>
          <p:nvPr/>
        </p:nvSpPr>
        <p:spPr>
          <a:xfrm>
            <a:off x="365760" y="12884911"/>
            <a:ext cx="9418320" cy="541528"/>
          </a:xfrm>
          <a:prstGeom prst="rect">
            <a:avLst/>
          </a:prstGeom>
          <a:noFill/>
        </p:spPr>
        <p:txBody>
          <a:bodyPr wrap="square">
            <a:spAutoFit/>
          </a:bodyPr>
          <a:lstStyle/>
          <a:p>
            <a:pPr algn="l"/>
            <a:r>
              <a:rPr sz="1100" b="0" i="0">
                <a:solidFill>
                  <a:srgbClr val="111111"/>
                </a:solidFill>
              </a:rPr>
              <a:t/>
            </a:r>
          </a:p>
        </p:txBody>
      </p:sp>
      <p:sp>
        <p:nvSpPr>
          <p:cNvPr id="33" name="TextBox 32"/>
          <p:cNvSpPr txBox="1"/>
          <p:nvPr/>
        </p:nvSpPr>
        <p:spPr>
          <a:xfrm>
            <a:off x="365760" y="13380720"/>
            <a:ext cx="9418320" cy="541528"/>
          </a:xfrm>
          <a:prstGeom prst="rect">
            <a:avLst/>
          </a:prstGeom>
          <a:noFill/>
        </p:spPr>
        <p:txBody>
          <a:bodyPr wrap="square">
            <a:spAutoFit/>
          </a:bodyPr>
          <a:lstStyle/>
          <a:p>
            <a:pPr algn="l"/>
            <a:r>
              <a:rPr sz="1100" b="0" i="0">
                <a:solidFill>
                  <a:srgbClr val="111111"/>
                </a:solidFill>
              </a:rPr>
              <a:t>Research Question: How can research-driven iterative design produce</a:t>
            </a:r>
          </a:p>
        </p:txBody>
      </p:sp>
      <p:sp>
        <p:nvSpPr>
          <p:cNvPr id="34" name="TextBox 33"/>
          <p:cNvSpPr txBox="1"/>
          <p:nvPr/>
        </p:nvSpPr>
        <p:spPr>
          <a:xfrm>
            <a:off x="365760" y="13876528"/>
            <a:ext cx="9418320" cy="541528"/>
          </a:xfrm>
          <a:prstGeom prst="rect">
            <a:avLst/>
          </a:prstGeom>
          <a:noFill/>
        </p:spPr>
        <p:txBody>
          <a:bodyPr wrap="square">
            <a:spAutoFit/>
          </a:bodyPr>
          <a:lstStyle/>
          <a:p>
            <a:pPr algn="l"/>
            <a:r>
              <a:rPr sz="1100" b="0" i="0">
                <a:solidFill>
                  <a:srgbClr val="111111"/>
                </a:solidFill>
              </a:rPr>
              <a:t>an adaptive, gamified module that scaffolds algorithm education and</a:t>
            </a:r>
          </a:p>
        </p:txBody>
      </p:sp>
      <p:sp>
        <p:nvSpPr>
          <p:cNvPr id="35" name="TextBox 34"/>
          <p:cNvSpPr txBox="1"/>
          <p:nvPr/>
        </p:nvSpPr>
        <p:spPr>
          <a:xfrm>
            <a:off x="365760" y="14372335"/>
            <a:ext cx="9418320" cy="541528"/>
          </a:xfrm>
          <a:prstGeom prst="rect">
            <a:avLst/>
          </a:prstGeom>
          <a:noFill/>
        </p:spPr>
        <p:txBody>
          <a:bodyPr wrap="square">
            <a:spAutoFit/>
          </a:bodyPr>
          <a:lstStyle/>
          <a:p>
            <a:pPr algn="l"/>
            <a:r>
              <a:rPr sz="1100" b="0" i="0">
                <a:solidFill>
                  <a:srgbClr val="111111"/>
                </a:solidFill>
              </a:rPr>
              <a:t>enables cross-topic prerequisite routing?</a:t>
            </a:r>
          </a:p>
        </p:txBody>
      </p:sp>
      <p:sp>
        <p:nvSpPr>
          <p:cNvPr id="36" name="Rectangle 35"/>
          <p:cNvSpPr/>
          <p:nvPr/>
        </p:nvSpPr>
        <p:spPr>
          <a:xfrm>
            <a:off x="274320" y="15133319"/>
            <a:ext cx="9601200" cy="5349240"/>
          </a:xfrm>
          <a:prstGeom prst="rect">
            <a:avLst/>
          </a:prstGeom>
          <a:solidFill>
            <a:srgbClr val="F7F8FC"/>
          </a:solidFill>
          <a:ln w="9525">
            <a:solidFill>
              <a:srgbClr val="DCE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74320" y="15133319"/>
            <a:ext cx="9601200" cy="320040"/>
          </a:xfrm>
          <a:prstGeom prst="rect">
            <a:avLst/>
          </a:prstGeom>
          <a:solidFill>
            <a:srgbClr val="1A1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47472" y="15160751"/>
            <a:ext cx="9454896" cy="265176"/>
          </a:xfrm>
          <a:prstGeom prst="rect">
            <a:avLst/>
          </a:prstGeom>
          <a:noFill/>
        </p:spPr>
        <p:txBody>
          <a:bodyPr wrap="square">
            <a:spAutoFit/>
          </a:bodyPr>
          <a:lstStyle/>
          <a:p>
            <a:pPr algn="l"/>
            <a:r>
              <a:rPr sz="1000" b="1" i="0">
                <a:solidFill>
                  <a:srgbClr val="FFFFFF"/>
                </a:solidFill>
              </a:rPr>
              <a:t>LITERATURE REVIEW</a:t>
            </a:r>
          </a:p>
        </p:txBody>
      </p:sp>
      <p:sp>
        <p:nvSpPr>
          <p:cNvPr id="39" name="TextBox 38"/>
          <p:cNvSpPr txBox="1"/>
          <p:nvPr/>
        </p:nvSpPr>
        <p:spPr>
          <a:xfrm>
            <a:off x="365760" y="15526511"/>
            <a:ext cx="9418320" cy="865632"/>
          </a:xfrm>
          <a:prstGeom prst="rect">
            <a:avLst/>
          </a:prstGeom>
          <a:noFill/>
        </p:spPr>
        <p:txBody>
          <a:bodyPr wrap="square">
            <a:spAutoFit/>
          </a:bodyPr>
          <a:lstStyle/>
          <a:p>
            <a:pPr algn="l"/>
            <a:r>
              <a:rPr sz="1100" b="0" i="0">
                <a:solidFill>
                  <a:srgbClr val="111111"/>
                </a:solidFill>
              </a:rPr>
              <a:t>Duolingo — winding path nav; XP + streak loops → mode navigation</a:t>
            </a:r>
          </a:p>
        </p:txBody>
      </p:sp>
      <p:sp>
        <p:nvSpPr>
          <p:cNvPr id="40" name="TextBox 39"/>
          <p:cNvSpPr txBox="1"/>
          <p:nvPr/>
        </p:nvSpPr>
        <p:spPr>
          <a:xfrm>
            <a:off x="365760" y="16346423"/>
            <a:ext cx="9418320" cy="865632"/>
          </a:xfrm>
          <a:prstGeom prst="rect">
            <a:avLst/>
          </a:prstGeom>
          <a:noFill/>
        </p:spPr>
        <p:txBody>
          <a:bodyPr wrap="square">
            <a:spAutoFit/>
          </a:bodyPr>
          <a:lstStyle/>
          <a:p>
            <a:pPr algn="l"/>
            <a:r>
              <a:rPr sz="1100" b="0" i="0">
                <a:solidFill>
                  <a:srgbClr val="111111"/>
                </a:solidFill>
              </a:rPr>
              <a:t>Brilliant.org — concept-first scaffolding → Tutorial intro slides</a:t>
            </a:r>
          </a:p>
        </p:txBody>
      </p:sp>
      <p:sp>
        <p:nvSpPr>
          <p:cNvPr id="41" name="TextBox 40"/>
          <p:cNvSpPr txBox="1"/>
          <p:nvPr/>
        </p:nvSpPr>
        <p:spPr>
          <a:xfrm>
            <a:off x="365760" y="17166335"/>
            <a:ext cx="9418320" cy="865632"/>
          </a:xfrm>
          <a:prstGeom prst="rect">
            <a:avLst/>
          </a:prstGeom>
          <a:noFill/>
        </p:spPr>
        <p:txBody>
          <a:bodyPr wrap="square">
            <a:spAutoFit/>
          </a:bodyPr>
          <a:lstStyle/>
          <a:p>
            <a:pPr algn="l"/>
            <a:r>
              <a:rPr sz="1100" b="0" i="0">
                <a:solidFill>
                  <a:srgbClr val="111111"/>
                </a:solidFill>
              </a:rPr>
              <a:t>Kahoot — timed challenge; competitive framing → timer &amp; penalty</a:t>
            </a:r>
          </a:p>
        </p:txBody>
      </p:sp>
      <p:sp>
        <p:nvSpPr>
          <p:cNvPr id="42" name="TextBox 41"/>
          <p:cNvSpPr txBox="1"/>
          <p:nvPr/>
        </p:nvSpPr>
        <p:spPr>
          <a:xfrm>
            <a:off x="365760" y="17986248"/>
            <a:ext cx="9418320" cy="865632"/>
          </a:xfrm>
          <a:prstGeom prst="rect">
            <a:avLst/>
          </a:prstGeom>
          <a:noFill/>
        </p:spPr>
        <p:txBody>
          <a:bodyPr wrap="square">
            <a:spAutoFit/>
          </a:bodyPr>
          <a:lstStyle/>
          <a:p>
            <a:pPr algn="l"/>
            <a:r>
              <a:rPr sz="1100" b="0" i="0">
                <a:solidFill>
                  <a:srgbClr val="111111"/>
                </a:solidFill>
              </a:rPr>
              <a:t>CogBooks — adaptive routing on error patterns → jump logic</a:t>
            </a:r>
          </a:p>
        </p:txBody>
      </p:sp>
      <p:sp>
        <p:nvSpPr>
          <p:cNvPr id="43" name="TextBox 42"/>
          <p:cNvSpPr txBox="1"/>
          <p:nvPr/>
        </p:nvSpPr>
        <p:spPr>
          <a:xfrm>
            <a:off x="365760" y="18806159"/>
            <a:ext cx="9418320" cy="865632"/>
          </a:xfrm>
          <a:prstGeom prst="rect">
            <a:avLst/>
          </a:prstGeom>
          <a:noFill/>
        </p:spPr>
        <p:txBody>
          <a:bodyPr wrap="square">
            <a:spAutoFit/>
          </a:bodyPr>
          <a:lstStyle/>
          <a:p>
            <a:pPr algn="l"/>
            <a:r>
              <a:rPr sz="1100" b="0" i="0">
                <a:solidFill>
                  <a:srgbClr val="111111"/>
                </a:solidFill>
              </a:rPr>
              <a:t>Prodigy / Tamagotchi — companion evolution → Algo pet design</a:t>
            </a:r>
          </a:p>
        </p:txBody>
      </p:sp>
      <p:sp>
        <p:nvSpPr>
          <p:cNvPr id="44" name="TextBox 43"/>
          <p:cNvSpPr txBox="1"/>
          <p:nvPr/>
        </p:nvSpPr>
        <p:spPr>
          <a:xfrm>
            <a:off x="365760" y="19626071"/>
            <a:ext cx="9418320" cy="865632"/>
          </a:xfrm>
          <a:prstGeom prst="rect">
            <a:avLst/>
          </a:prstGeom>
          <a:noFill/>
        </p:spPr>
        <p:txBody>
          <a:bodyPr wrap="square">
            <a:spAutoFit/>
          </a:bodyPr>
          <a:lstStyle/>
          <a:p>
            <a:pPr algn="l"/>
            <a:r>
              <a:rPr sz="1100" b="0" i="0">
                <a:solidFill>
                  <a:srgbClr val="111111"/>
                </a:solidFill>
              </a:rPr>
              <a:t>BlockList (ACM SIGCSE 2025) — code-block drag-drop → core mechanic</a:t>
            </a:r>
          </a:p>
        </p:txBody>
      </p:sp>
      <p:sp>
        <p:nvSpPr>
          <p:cNvPr id="45" name="Rectangle 44"/>
          <p:cNvSpPr/>
          <p:nvPr/>
        </p:nvSpPr>
        <p:spPr>
          <a:xfrm>
            <a:off x="274320" y="20711160"/>
            <a:ext cx="9601200" cy="5074920"/>
          </a:xfrm>
          <a:prstGeom prst="rect">
            <a:avLst/>
          </a:prstGeom>
          <a:solidFill>
            <a:srgbClr val="F7F8FC"/>
          </a:solidFill>
          <a:ln w="9525">
            <a:solidFill>
              <a:srgbClr val="DCE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74320" y="20711160"/>
            <a:ext cx="9601200" cy="320040"/>
          </a:xfrm>
          <a:prstGeom prst="rect">
            <a:avLst/>
          </a:prstGeom>
          <a:solidFill>
            <a:srgbClr val="1A1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47472" y="20738592"/>
            <a:ext cx="9454896" cy="265176"/>
          </a:xfrm>
          <a:prstGeom prst="rect">
            <a:avLst/>
          </a:prstGeom>
          <a:noFill/>
        </p:spPr>
        <p:txBody>
          <a:bodyPr wrap="square">
            <a:spAutoFit/>
          </a:bodyPr>
          <a:lstStyle/>
          <a:p>
            <a:pPr algn="l"/>
            <a:r>
              <a:rPr sz="1000" b="1" i="0">
                <a:solidFill>
                  <a:srgbClr val="FFFFFF"/>
                </a:solidFill>
              </a:rPr>
              <a:t>ADAPTIVE LEARNING ARCHITECTURE</a:t>
            </a:r>
          </a:p>
        </p:txBody>
      </p:sp>
      <p:sp>
        <p:nvSpPr>
          <p:cNvPr id="48" name="TextBox 47"/>
          <p:cNvSpPr txBox="1"/>
          <p:nvPr/>
        </p:nvSpPr>
        <p:spPr>
          <a:xfrm>
            <a:off x="365760" y="21104352"/>
            <a:ext cx="9418320" cy="626364"/>
          </a:xfrm>
          <a:prstGeom prst="rect">
            <a:avLst/>
          </a:prstGeom>
          <a:noFill/>
        </p:spPr>
        <p:txBody>
          <a:bodyPr wrap="square">
            <a:spAutoFit/>
          </a:bodyPr>
          <a:lstStyle/>
          <a:p>
            <a:pPr algn="l"/>
            <a:r>
              <a:rPr sz="1100" b="0" i="0">
                <a:solidFill>
                  <a:srgbClr val="111111"/>
                </a:solidFill>
              </a:rPr>
              <a:t>The platform models a knowledge dependency graph where modules</a:t>
            </a:r>
          </a:p>
        </p:txBody>
      </p:sp>
      <p:sp>
        <p:nvSpPr>
          <p:cNvPr id="49" name="TextBox 48"/>
          <p:cNvSpPr txBox="1"/>
          <p:nvPr/>
        </p:nvSpPr>
        <p:spPr>
          <a:xfrm>
            <a:off x="365760" y="21684996"/>
            <a:ext cx="9418320" cy="626364"/>
          </a:xfrm>
          <a:prstGeom prst="rect">
            <a:avLst/>
          </a:prstGeom>
          <a:noFill/>
        </p:spPr>
        <p:txBody>
          <a:bodyPr wrap="square">
            <a:spAutoFit/>
          </a:bodyPr>
          <a:lstStyle/>
          <a:p>
            <a:pPr algn="l"/>
            <a:r>
              <a:rPr sz="1100" b="0" i="0">
                <a:solidFill>
                  <a:srgbClr val="111111"/>
                </a:solidFill>
              </a:rPr>
              <a:t>are nodes and prerequisite relationships are directed edges:</a:t>
            </a:r>
          </a:p>
        </p:txBody>
      </p:sp>
      <p:sp>
        <p:nvSpPr>
          <p:cNvPr id="50" name="TextBox 49"/>
          <p:cNvSpPr txBox="1"/>
          <p:nvPr/>
        </p:nvSpPr>
        <p:spPr>
          <a:xfrm>
            <a:off x="365760" y="22265639"/>
            <a:ext cx="9418320" cy="626364"/>
          </a:xfrm>
          <a:prstGeom prst="rect">
            <a:avLst/>
          </a:prstGeom>
          <a:noFill/>
        </p:spPr>
        <p:txBody>
          <a:bodyPr wrap="square">
            <a:spAutoFit/>
          </a:bodyPr>
          <a:lstStyle/>
          <a:p>
            <a:pPr algn="l"/>
            <a:r>
              <a:rPr sz="1100" b="0" i="0">
                <a:solidFill>
                  <a:srgbClr val="111111"/>
                </a:solidFill>
              </a:rPr>
              <a:t/>
            </a:r>
          </a:p>
        </p:txBody>
      </p:sp>
      <p:sp>
        <p:nvSpPr>
          <p:cNvPr id="51" name="TextBox 50"/>
          <p:cNvSpPr txBox="1"/>
          <p:nvPr/>
        </p:nvSpPr>
        <p:spPr>
          <a:xfrm>
            <a:off x="365760" y="22846284"/>
            <a:ext cx="9418320" cy="626364"/>
          </a:xfrm>
          <a:prstGeom prst="rect">
            <a:avLst/>
          </a:prstGeom>
          <a:noFill/>
        </p:spPr>
        <p:txBody>
          <a:bodyPr wrap="square">
            <a:spAutoFit/>
          </a:bodyPr>
          <a:lstStyle/>
          <a:p>
            <a:pPr algn="l"/>
            <a:r>
              <a:rPr sz="1100" b="0" i="0">
                <a:solidFill>
                  <a:srgbClr val="111111"/>
                </a:solidFill>
              </a:rPr>
              <a:t>  Singly Linked List  →  Doubly Linked List  →  Trees (planned)</a:t>
            </a:r>
          </a:p>
        </p:txBody>
      </p:sp>
      <p:sp>
        <p:nvSpPr>
          <p:cNvPr id="52" name="TextBox 51"/>
          <p:cNvSpPr txBox="1"/>
          <p:nvPr/>
        </p:nvSpPr>
        <p:spPr>
          <a:xfrm>
            <a:off x="365760" y="23426927"/>
            <a:ext cx="9418320" cy="626364"/>
          </a:xfrm>
          <a:prstGeom prst="rect">
            <a:avLst/>
          </a:prstGeom>
          <a:noFill/>
        </p:spPr>
        <p:txBody>
          <a:bodyPr wrap="square">
            <a:spAutoFit/>
          </a:bodyPr>
          <a:lstStyle/>
          <a:p>
            <a:pPr algn="l"/>
            <a:r>
              <a:rPr sz="1100" b="0" i="0">
                <a:solidFill>
                  <a:srgbClr val="111111"/>
                </a:solidFill>
              </a:rPr>
              <a:t/>
            </a:r>
          </a:p>
        </p:txBody>
      </p:sp>
      <p:sp>
        <p:nvSpPr>
          <p:cNvPr id="53" name="TextBox 52"/>
          <p:cNvSpPr txBox="1"/>
          <p:nvPr/>
        </p:nvSpPr>
        <p:spPr>
          <a:xfrm>
            <a:off x="365760" y="24007572"/>
            <a:ext cx="9418320" cy="626364"/>
          </a:xfrm>
          <a:prstGeom prst="rect">
            <a:avLst/>
          </a:prstGeom>
          <a:noFill/>
        </p:spPr>
        <p:txBody>
          <a:bodyPr wrap="square">
            <a:spAutoFit/>
          </a:bodyPr>
          <a:lstStyle/>
          <a:p>
            <a:pPr algn="l"/>
            <a:r>
              <a:rPr sz="1100" b="0" i="0">
                <a:solidFill>
                  <a:srgbClr val="111111"/>
                </a:solidFill>
              </a:rPr>
              <a:t>When a student commits ≥ 2 Type-A errors (pointer logic errors</a:t>
            </a:r>
          </a:p>
        </p:txBody>
      </p:sp>
      <p:sp>
        <p:nvSpPr>
          <p:cNvPr id="54" name="TextBox 53"/>
          <p:cNvSpPr txBox="1"/>
          <p:nvPr/>
        </p:nvSpPr>
        <p:spPr>
          <a:xfrm>
            <a:off x="365760" y="24588215"/>
            <a:ext cx="9418320" cy="626364"/>
          </a:xfrm>
          <a:prstGeom prst="rect">
            <a:avLst/>
          </a:prstGeom>
          <a:noFill/>
        </p:spPr>
        <p:txBody>
          <a:bodyPr wrap="square">
            <a:spAutoFit/>
          </a:bodyPr>
          <a:lstStyle/>
          <a:p>
            <a:pPr algn="l"/>
            <a:r>
              <a:rPr sz="1100" b="0" i="0">
                <a:solidFill>
                  <a:srgbClr val="111111"/>
                </a:solidFill>
              </a:rPr>
              <a:t>shared with SLL) in a DLL session, a non-disruptive suggestion</a:t>
            </a:r>
          </a:p>
        </p:txBody>
      </p:sp>
      <p:sp>
        <p:nvSpPr>
          <p:cNvPr id="55" name="TextBox 54"/>
          <p:cNvSpPr txBox="1"/>
          <p:nvPr/>
        </p:nvSpPr>
        <p:spPr>
          <a:xfrm>
            <a:off x="365760" y="25168860"/>
            <a:ext cx="9418320" cy="626364"/>
          </a:xfrm>
          <a:prstGeom prst="rect">
            <a:avLst/>
          </a:prstGeom>
          <a:noFill/>
        </p:spPr>
        <p:txBody>
          <a:bodyPr wrap="square">
            <a:spAutoFit/>
          </a:bodyPr>
          <a:lstStyle/>
          <a:p>
            <a:pPr algn="l"/>
            <a:r>
              <a:rPr sz="1100" b="0" i="0">
                <a:solidFill>
                  <a:srgbClr val="111111"/>
                </a:solidFill>
              </a:rPr>
              <a:t>modal appears — framed as a player choice, not a system redirect.</a:t>
            </a:r>
          </a:p>
        </p:txBody>
      </p:sp>
      <p:sp>
        <p:nvSpPr>
          <p:cNvPr id="56" name="Rectangle 55"/>
          <p:cNvSpPr/>
          <p:nvPr/>
        </p:nvSpPr>
        <p:spPr>
          <a:xfrm>
            <a:off x="10104120" y="3246120"/>
            <a:ext cx="23774400" cy="29397960"/>
          </a:xfrm>
          <a:prstGeom prst="rect">
            <a:avLst/>
          </a:prstGeom>
          <a:solidFill>
            <a:srgbClr val="F7F8FC"/>
          </a:solidFill>
          <a:ln w="9525">
            <a:solidFill>
              <a:srgbClr val="DCE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0104120" y="3246120"/>
            <a:ext cx="23774400" cy="320040"/>
          </a:xfrm>
          <a:prstGeom prst="rect">
            <a:avLst/>
          </a:prstGeom>
          <a:solidFill>
            <a:srgbClr val="1A1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195560" y="3282696"/>
            <a:ext cx="23591520" cy="256032"/>
          </a:xfrm>
          <a:prstGeom prst="rect">
            <a:avLst/>
          </a:prstGeom>
          <a:noFill/>
        </p:spPr>
        <p:txBody>
          <a:bodyPr wrap="square">
            <a:spAutoFit/>
          </a:bodyPr>
          <a:lstStyle/>
          <a:p>
            <a:pPr algn="l"/>
            <a:r>
              <a:rPr sz="1000" b="1" i="0">
                <a:solidFill>
                  <a:srgbClr val="FFFFFF"/>
                </a:solidFill>
              </a:rPr>
              <a:t>DESIGN EVOLUTION — ITERATIVE RESEARCH PROCESS</a:t>
            </a:r>
          </a:p>
        </p:txBody>
      </p:sp>
      <p:sp>
        <p:nvSpPr>
          <p:cNvPr id="59" name="Oval 58"/>
          <p:cNvSpPr/>
          <p:nvPr/>
        </p:nvSpPr>
        <p:spPr>
          <a:xfrm>
            <a:off x="10241280" y="3794760"/>
            <a:ext cx="347472" cy="347472"/>
          </a:xfrm>
          <a:prstGeom prst="ellipse">
            <a:avLst/>
          </a:prstGeom>
          <a:solidFill>
            <a:srgbClr val="1A1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1</a:t>
            </a:r>
          </a:p>
        </p:txBody>
      </p:sp>
      <p:sp>
        <p:nvSpPr>
          <p:cNvPr id="60" name="TextBox 59"/>
          <p:cNvSpPr txBox="1"/>
          <p:nvPr/>
        </p:nvSpPr>
        <p:spPr>
          <a:xfrm>
            <a:off x="10698480" y="3749040"/>
            <a:ext cx="23042880" cy="292608"/>
          </a:xfrm>
          <a:prstGeom prst="rect">
            <a:avLst/>
          </a:prstGeom>
          <a:noFill/>
        </p:spPr>
        <p:txBody>
          <a:bodyPr wrap="square">
            <a:spAutoFit/>
          </a:bodyPr>
          <a:lstStyle/>
          <a:p>
            <a:pPr algn="l"/>
            <a:r>
              <a:rPr sz="1150" b="1" i="0">
                <a:solidFill>
                  <a:srgbClr val="1A1A4E"/>
                </a:solidFill>
              </a:rPr>
              <a:t>Initial Prototype — Basic Drag-and-Drop</a:t>
            </a:r>
          </a:p>
        </p:txBody>
      </p:sp>
      <p:sp>
        <p:nvSpPr>
          <p:cNvPr id="61" name="TextBox 60"/>
          <p:cNvSpPr txBox="1"/>
          <p:nvPr/>
        </p:nvSpPr>
        <p:spPr>
          <a:xfrm>
            <a:off x="10698480" y="4023360"/>
            <a:ext cx="23042880" cy="4297680"/>
          </a:xfrm>
          <a:prstGeom prst="rect">
            <a:avLst/>
          </a:prstGeom>
          <a:noFill/>
        </p:spPr>
        <p:txBody>
          <a:bodyPr wrap="square">
            <a:spAutoFit/>
          </a:bodyPr>
          <a:lstStyle/>
          <a:p>
            <a:pPr algn="l"/>
            <a:r>
              <a:rPr sz="1050" b="0" i="0">
                <a:solidFill>
                  <a:srgbClr val="444444"/>
                </a:solidFill>
              </a:rPr>
              <a:t>A single-page app where students drag pseudocode blocks into an assembly area to perform singly linked list operations. Dark theme, no feedback, no distractors, no scaffolding. Confirmed the core mechanic was learnable but too abrupt for novice users.</a:t>
            </a:r>
          </a:p>
        </p:txBody>
      </p:sp>
      <p:sp>
        <p:nvSpPr>
          <p:cNvPr id="62" name="Rectangle 61"/>
          <p:cNvSpPr/>
          <p:nvPr/>
        </p:nvSpPr>
        <p:spPr>
          <a:xfrm>
            <a:off x="10698480" y="8257032"/>
            <a:ext cx="17282160" cy="237744"/>
          </a:xfrm>
          <a:prstGeom prst="rect">
            <a:avLst/>
          </a:prstGeom>
          <a:solidFill>
            <a:srgbClr val="F7F8FC"/>
          </a:solidFill>
          <a:ln w="9525">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D4ED8"/>
                </a:solidFill>
              </a:rPr>
              <a:t>Driven by: BlockList paper + initial feasibility</a:t>
            </a:r>
          </a:p>
        </p:txBody>
      </p:sp>
      <p:sp>
        <p:nvSpPr>
          <p:cNvPr id="63" name="Rectangle 62"/>
          <p:cNvSpPr/>
          <p:nvPr/>
        </p:nvSpPr>
        <p:spPr>
          <a:xfrm>
            <a:off x="10396728" y="8458200"/>
            <a:ext cx="36576" cy="182880"/>
          </a:xfrm>
          <a:prstGeom prst="rect">
            <a:avLst/>
          </a:prstGeom>
          <a:solidFill>
            <a:srgbClr val="DCE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10241280" y="8595360"/>
            <a:ext cx="347472" cy="347472"/>
          </a:xfrm>
          <a:prstGeom prst="ellipse">
            <a:avLst/>
          </a:prstGeom>
          <a:solidFill>
            <a:srgbClr val="1A1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2</a:t>
            </a:r>
          </a:p>
        </p:txBody>
      </p:sp>
      <p:sp>
        <p:nvSpPr>
          <p:cNvPr id="65" name="TextBox 64"/>
          <p:cNvSpPr txBox="1"/>
          <p:nvPr/>
        </p:nvSpPr>
        <p:spPr>
          <a:xfrm>
            <a:off x="10698480" y="8549640"/>
            <a:ext cx="23042880" cy="292608"/>
          </a:xfrm>
          <a:prstGeom prst="rect">
            <a:avLst/>
          </a:prstGeom>
          <a:noFill/>
        </p:spPr>
        <p:txBody>
          <a:bodyPr wrap="square">
            <a:spAutoFit/>
          </a:bodyPr>
          <a:lstStyle/>
          <a:p>
            <a:pPr algn="l"/>
            <a:r>
              <a:rPr sz="1150" b="1" i="0">
                <a:solidFill>
                  <a:srgbClr val="1A1A4E"/>
                </a:solidFill>
              </a:rPr>
              <a:t>Three-Mode Architecture — Tutorial → Training → Challenge</a:t>
            </a:r>
          </a:p>
        </p:txBody>
      </p:sp>
      <p:sp>
        <p:nvSpPr>
          <p:cNvPr id="66" name="TextBox 65"/>
          <p:cNvSpPr txBox="1"/>
          <p:nvPr/>
        </p:nvSpPr>
        <p:spPr>
          <a:xfrm>
            <a:off x="10698480" y="8823960"/>
            <a:ext cx="23042880" cy="4297680"/>
          </a:xfrm>
          <a:prstGeom prst="rect">
            <a:avLst/>
          </a:prstGeom>
          <a:noFill/>
        </p:spPr>
        <p:txBody>
          <a:bodyPr wrap="square">
            <a:spAutoFit/>
          </a:bodyPr>
          <a:lstStyle/>
          <a:p>
            <a:pPr algn="l"/>
            <a:r>
              <a:rPr sz="1050" b="0" i="0">
                <a:solidFill>
                  <a:srgbClr val="444444"/>
                </a:solidFill>
              </a:rPr>
              <a:t>Literature review showed one-size-fits-all interfaces fail novice learners. Introduced progressive scaffolding: Tutorial (step-by-step hints, fixed exercises), Training (on-demand hints, random values), and Challenge Mode (three difficulty levels, procedurally generated questions with distractor blocks and error taxonomy feedback).</a:t>
            </a:r>
          </a:p>
        </p:txBody>
      </p:sp>
      <p:sp>
        <p:nvSpPr>
          <p:cNvPr id="67" name="Rectangle 66"/>
          <p:cNvSpPr/>
          <p:nvPr/>
        </p:nvSpPr>
        <p:spPr>
          <a:xfrm>
            <a:off x="10698480" y="13057632"/>
            <a:ext cx="17282160" cy="237744"/>
          </a:xfrm>
          <a:prstGeom prst="rect">
            <a:avLst/>
          </a:prstGeom>
          <a:solidFill>
            <a:srgbClr val="F7F8FC"/>
          </a:solidFill>
          <a:ln w="9525">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D4ED8"/>
                </a:solidFill>
              </a:rPr>
              <a:t>Driven by: Brilliant.org scaffolding model + CogBooks adaptive design</a:t>
            </a:r>
          </a:p>
        </p:txBody>
      </p:sp>
      <p:sp>
        <p:nvSpPr>
          <p:cNvPr id="68" name="Rectangle 67"/>
          <p:cNvSpPr/>
          <p:nvPr/>
        </p:nvSpPr>
        <p:spPr>
          <a:xfrm>
            <a:off x="10396728" y="13258800"/>
            <a:ext cx="36576" cy="182880"/>
          </a:xfrm>
          <a:prstGeom prst="rect">
            <a:avLst/>
          </a:prstGeom>
          <a:solidFill>
            <a:srgbClr val="DCE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10241280" y="13395960"/>
            <a:ext cx="347472" cy="347472"/>
          </a:xfrm>
          <a:prstGeom prst="ellipse">
            <a:avLst/>
          </a:prstGeom>
          <a:solidFill>
            <a:srgbClr val="1A1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3</a:t>
            </a:r>
          </a:p>
        </p:txBody>
      </p:sp>
      <p:sp>
        <p:nvSpPr>
          <p:cNvPr id="70" name="TextBox 69"/>
          <p:cNvSpPr txBox="1"/>
          <p:nvPr/>
        </p:nvSpPr>
        <p:spPr>
          <a:xfrm>
            <a:off x="10698480" y="13350240"/>
            <a:ext cx="23042880" cy="292608"/>
          </a:xfrm>
          <a:prstGeom prst="rect">
            <a:avLst/>
          </a:prstGeom>
          <a:noFill/>
        </p:spPr>
        <p:txBody>
          <a:bodyPr wrap="square">
            <a:spAutoFit/>
          </a:bodyPr>
          <a:lstStyle/>
          <a:p>
            <a:pPr algn="l"/>
            <a:r>
              <a:rPr sz="1150" b="1" i="0">
                <a:solidFill>
                  <a:srgbClr val="1A1A4E"/>
                </a:solidFill>
              </a:rPr>
              <a:t>Tutorial Intro Redesign — Concept-First Onboarding</a:t>
            </a:r>
          </a:p>
        </p:txBody>
      </p:sp>
      <p:sp>
        <p:nvSpPr>
          <p:cNvPr id="71" name="TextBox 70"/>
          <p:cNvSpPr txBox="1"/>
          <p:nvPr/>
        </p:nvSpPr>
        <p:spPr>
          <a:xfrm>
            <a:off x="10698480" y="13624560"/>
            <a:ext cx="23042880" cy="4297680"/>
          </a:xfrm>
          <a:prstGeom prst="rect">
            <a:avLst/>
          </a:prstGeom>
          <a:noFill/>
        </p:spPr>
        <p:txBody>
          <a:bodyPr wrap="square">
            <a:spAutoFit/>
          </a:bodyPr>
          <a:lstStyle/>
          <a:p>
            <a:pPr algn="l"/>
            <a:r>
              <a:rPr sz="1050" b="0" i="0">
                <a:solidFill>
                  <a:srgbClr val="444444"/>
                </a:solidFill>
              </a:rPr>
              <a:t>Instructor feedback revealed students had no conceptual baseline on entry. Replaced the welcome popup with a 4-slide concept introduction (linked list structure, node anatomy, HEAD &amp; NULL, key terms) plus a mandatory 4-question quiz. Drag-and-drop was replaced with fill-in-the-blank to reduce cognitive load.</a:t>
            </a:r>
          </a:p>
        </p:txBody>
      </p:sp>
      <p:sp>
        <p:nvSpPr>
          <p:cNvPr id="72" name="Rectangle 71"/>
          <p:cNvSpPr/>
          <p:nvPr/>
        </p:nvSpPr>
        <p:spPr>
          <a:xfrm>
            <a:off x="10698480" y="17858232"/>
            <a:ext cx="17282160" cy="237744"/>
          </a:xfrm>
          <a:prstGeom prst="rect">
            <a:avLst/>
          </a:prstGeom>
          <a:solidFill>
            <a:srgbClr val="FEF2F2"/>
          </a:solidFill>
          <a:ln w="9525">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B91C1C"/>
                </a:solidFill>
              </a:rPr>
              <a:t>Driven by: Instructor feedback + Brilliant concept-first design</a:t>
            </a:r>
          </a:p>
        </p:txBody>
      </p:sp>
      <p:sp>
        <p:nvSpPr>
          <p:cNvPr id="73" name="Rectangle 72"/>
          <p:cNvSpPr/>
          <p:nvPr/>
        </p:nvSpPr>
        <p:spPr>
          <a:xfrm>
            <a:off x="10396728" y="18059400"/>
            <a:ext cx="36576" cy="182880"/>
          </a:xfrm>
          <a:prstGeom prst="rect">
            <a:avLst/>
          </a:prstGeom>
          <a:solidFill>
            <a:srgbClr val="DCE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10241280" y="18196560"/>
            <a:ext cx="347472" cy="347472"/>
          </a:xfrm>
          <a:prstGeom prst="ellipse">
            <a:avLst/>
          </a:prstGeom>
          <a:solidFill>
            <a:srgbClr val="1A1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4</a:t>
            </a:r>
          </a:p>
        </p:txBody>
      </p:sp>
      <p:sp>
        <p:nvSpPr>
          <p:cNvPr id="75" name="TextBox 74"/>
          <p:cNvSpPr txBox="1"/>
          <p:nvPr/>
        </p:nvSpPr>
        <p:spPr>
          <a:xfrm>
            <a:off x="10698480" y="18150840"/>
            <a:ext cx="23042880" cy="292608"/>
          </a:xfrm>
          <a:prstGeom prst="rect">
            <a:avLst/>
          </a:prstGeom>
          <a:noFill/>
        </p:spPr>
        <p:txBody>
          <a:bodyPr wrap="square">
            <a:spAutoFit/>
          </a:bodyPr>
          <a:lstStyle/>
          <a:p>
            <a:pPr algn="l"/>
            <a:r>
              <a:rPr sz="1150" b="1" i="0">
                <a:solidFill>
                  <a:srgbClr val="1A1A4E"/>
                </a:solidFill>
              </a:rPr>
              <a:t>Gamification Layer — Pet Companion, XP, Stars, Lives</a:t>
            </a:r>
          </a:p>
        </p:txBody>
      </p:sp>
      <p:sp>
        <p:nvSpPr>
          <p:cNvPr id="76" name="TextBox 75"/>
          <p:cNvSpPr txBox="1"/>
          <p:nvPr/>
        </p:nvSpPr>
        <p:spPr>
          <a:xfrm>
            <a:off x="10698480" y="18425160"/>
            <a:ext cx="23042880" cy="4297680"/>
          </a:xfrm>
          <a:prstGeom prst="rect">
            <a:avLst/>
          </a:prstGeom>
          <a:noFill/>
        </p:spPr>
        <p:txBody>
          <a:bodyPr wrap="square">
            <a:spAutoFit/>
          </a:bodyPr>
          <a:lstStyle/>
          <a:p>
            <a:pPr algn="l"/>
            <a:r>
              <a:rPr sz="1050" b="0" i="0">
                <a:solidFill>
                  <a:srgbClr val="444444"/>
                </a:solidFill>
              </a:rPr>
              <a:t>Analysis of Duolingo and Prodigy revealed long-term engagement requires emotional investment. Added a pixel husky companion (Algo) with 5 evolution stages driven by a shared XP pool, a star rating system (0–3 stars based on errors), a lives counter, and a game timer. Path-style mode navigation replaced flat card selection.</a:t>
            </a:r>
          </a:p>
        </p:txBody>
      </p:sp>
      <p:sp>
        <p:nvSpPr>
          <p:cNvPr id="77" name="Rectangle 76"/>
          <p:cNvSpPr/>
          <p:nvPr/>
        </p:nvSpPr>
        <p:spPr>
          <a:xfrm>
            <a:off x="10698480" y="22658832"/>
            <a:ext cx="17282160" cy="237744"/>
          </a:xfrm>
          <a:prstGeom prst="rect">
            <a:avLst/>
          </a:prstGeom>
          <a:solidFill>
            <a:srgbClr val="F7F8FC"/>
          </a:solidFill>
          <a:ln w="9525">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D4ED8"/>
                </a:solidFill>
              </a:rPr>
              <a:t>Driven by: Duolingo + Tamagotchi engagement research</a:t>
            </a:r>
          </a:p>
        </p:txBody>
      </p:sp>
      <p:sp>
        <p:nvSpPr>
          <p:cNvPr id="78" name="Rectangle 77"/>
          <p:cNvSpPr/>
          <p:nvPr/>
        </p:nvSpPr>
        <p:spPr>
          <a:xfrm>
            <a:off x="10396728" y="22860000"/>
            <a:ext cx="36576" cy="182880"/>
          </a:xfrm>
          <a:prstGeom prst="rect">
            <a:avLst/>
          </a:prstGeom>
          <a:solidFill>
            <a:srgbClr val="DCE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10241280" y="22997160"/>
            <a:ext cx="347472" cy="347472"/>
          </a:xfrm>
          <a:prstGeom prst="ellipse">
            <a:avLst/>
          </a:prstGeom>
          <a:solidFill>
            <a:srgbClr val="1A1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5</a:t>
            </a:r>
          </a:p>
        </p:txBody>
      </p:sp>
      <p:sp>
        <p:nvSpPr>
          <p:cNvPr id="80" name="TextBox 79"/>
          <p:cNvSpPr txBox="1"/>
          <p:nvPr/>
        </p:nvSpPr>
        <p:spPr>
          <a:xfrm>
            <a:off x="10698480" y="22951440"/>
            <a:ext cx="23042880" cy="292608"/>
          </a:xfrm>
          <a:prstGeom prst="rect">
            <a:avLst/>
          </a:prstGeom>
          <a:noFill/>
        </p:spPr>
        <p:txBody>
          <a:bodyPr wrap="square">
            <a:spAutoFit/>
          </a:bodyPr>
          <a:lstStyle/>
          <a:p>
            <a:pPr algn="l"/>
            <a:r>
              <a:rPr sz="1150" b="1" i="0">
                <a:solidFill>
                  <a:srgbClr val="1A1A4E"/>
                </a:solidFill>
              </a:rPr>
              <a:t>Doubly Linked List Module + Adaptive Cross-Module Routing</a:t>
            </a:r>
          </a:p>
        </p:txBody>
      </p:sp>
      <p:sp>
        <p:nvSpPr>
          <p:cNvPr id="81" name="TextBox 80"/>
          <p:cNvSpPr txBox="1"/>
          <p:nvPr/>
        </p:nvSpPr>
        <p:spPr>
          <a:xfrm>
            <a:off x="10698480" y="23225760"/>
            <a:ext cx="23042880" cy="4297680"/>
          </a:xfrm>
          <a:prstGeom prst="rect">
            <a:avLst/>
          </a:prstGeom>
          <a:noFill/>
        </p:spPr>
        <p:txBody>
          <a:bodyPr wrap="square">
            <a:spAutoFit/>
          </a:bodyPr>
          <a:lstStyle/>
          <a:p>
            <a:pPr algn="l"/>
            <a:r>
              <a:rPr sz="1050" b="0" i="0">
                <a:solidFill>
                  <a:srgbClr val="444444"/>
                </a:solidFill>
              </a:rPr>
              <a:t>Added DLL as the second module with bidirectional node visualization (⇄ arrows, prev/next states) and a new error type: Broken Prev. Cross-module adaptive logic: when ≥ 2 Type-A errors occur in a DLL session, a suggestion modal appears — framing the return to SLL as a player-initiated choice, not a system redirect.</a:t>
            </a:r>
          </a:p>
        </p:txBody>
      </p:sp>
      <p:sp>
        <p:nvSpPr>
          <p:cNvPr id="82" name="Rectangle 81"/>
          <p:cNvSpPr/>
          <p:nvPr/>
        </p:nvSpPr>
        <p:spPr>
          <a:xfrm>
            <a:off x="10698480" y="27459432"/>
            <a:ext cx="17282160" cy="237744"/>
          </a:xfrm>
          <a:prstGeom prst="rect">
            <a:avLst/>
          </a:prstGeom>
          <a:solidFill>
            <a:srgbClr val="F0FDF4"/>
          </a:solidFill>
          <a:ln w="9525">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5803D"/>
                </a:solidFill>
              </a:rPr>
              <a:t>Driven by: CogBooks adaptive routing + 'player choice' design principle</a:t>
            </a:r>
          </a:p>
        </p:txBody>
      </p:sp>
      <p:sp>
        <p:nvSpPr>
          <p:cNvPr id="83" name="Rectangle 82"/>
          <p:cNvSpPr/>
          <p:nvPr/>
        </p:nvSpPr>
        <p:spPr>
          <a:xfrm>
            <a:off x="10396728" y="27660600"/>
            <a:ext cx="36576" cy="182880"/>
          </a:xfrm>
          <a:prstGeom prst="rect">
            <a:avLst/>
          </a:prstGeom>
          <a:solidFill>
            <a:srgbClr val="DCE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10241280" y="27797760"/>
            <a:ext cx="347472" cy="347472"/>
          </a:xfrm>
          <a:prstGeom prst="ellipse">
            <a:avLst/>
          </a:prstGeom>
          <a:solidFill>
            <a:srgbClr val="1A1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6</a:t>
            </a:r>
          </a:p>
        </p:txBody>
      </p:sp>
      <p:sp>
        <p:nvSpPr>
          <p:cNvPr id="85" name="TextBox 84"/>
          <p:cNvSpPr txBox="1"/>
          <p:nvPr/>
        </p:nvSpPr>
        <p:spPr>
          <a:xfrm>
            <a:off x="10698480" y="27752040"/>
            <a:ext cx="23042880" cy="292608"/>
          </a:xfrm>
          <a:prstGeom prst="rect">
            <a:avLst/>
          </a:prstGeom>
          <a:noFill/>
        </p:spPr>
        <p:txBody>
          <a:bodyPr wrap="square">
            <a:spAutoFit/>
          </a:bodyPr>
          <a:lstStyle/>
          <a:p>
            <a:pPr algn="l"/>
            <a:r>
              <a:rPr sz="1150" b="1" i="0">
                <a:solidFill>
                  <a:srgbClr val="1A1A4E"/>
                </a:solidFill>
              </a:rPr>
              <a:t>UI Unification, Sort Mode + Module Path Expansion</a:t>
            </a:r>
          </a:p>
        </p:txBody>
      </p:sp>
      <p:sp>
        <p:nvSpPr>
          <p:cNvPr id="86" name="TextBox 85"/>
          <p:cNvSpPr txBox="1"/>
          <p:nvPr/>
        </p:nvSpPr>
        <p:spPr>
          <a:xfrm>
            <a:off x="10698480" y="28026360"/>
            <a:ext cx="23042880" cy="4297680"/>
          </a:xfrm>
          <a:prstGeom prst="rect">
            <a:avLst/>
          </a:prstGeom>
          <a:noFill/>
        </p:spPr>
        <p:txBody>
          <a:bodyPr wrap="square">
            <a:spAutoFit/>
          </a:bodyPr>
          <a:lstStyle/>
          <a:p>
            <a:pPr algn="l"/>
            <a:r>
              <a:rPr sz="1050" b="0" i="0">
                <a:solidFill>
                  <a:srgbClr val="444444"/>
                </a:solidFill>
              </a:rPr>
              <a:t>Instructor usability testing identified font size and dark theme as friction points. Converted all screens to a unified light theme, doubled all font sizes, replaced drag-and-drop with click-to-place in Tutorial. Added a standalone Sort Linked List mode with live pseudocode highlighting. Module selection now shows a winding path with locked future modules (Sorting, Tree, Graph).</a:t>
            </a:r>
          </a:p>
        </p:txBody>
      </p:sp>
      <p:sp>
        <p:nvSpPr>
          <p:cNvPr id="87" name="Rectangle 86"/>
          <p:cNvSpPr/>
          <p:nvPr/>
        </p:nvSpPr>
        <p:spPr>
          <a:xfrm>
            <a:off x="10698480" y="32260032"/>
            <a:ext cx="17282160" cy="237744"/>
          </a:xfrm>
          <a:prstGeom prst="rect">
            <a:avLst/>
          </a:prstGeom>
          <a:solidFill>
            <a:srgbClr val="FEF2F2"/>
          </a:solidFill>
          <a:ln w="9525">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B91C1C"/>
                </a:solidFill>
              </a:rPr>
              <a:t>Driven by: Instructor feedback sessions + Duolingo path navigation</a:t>
            </a:r>
          </a:p>
        </p:txBody>
      </p:sp>
      <p:sp>
        <p:nvSpPr>
          <p:cNvPr id="88" name="Rectangle 87"/>
          <p:cNvSpPr/>
          <p:nvPr/>
        </p:nvSpPr>
        <p:spPr>
          <a:xfrm>
            <a:off x="34107120" y="3246120"/>
            <a:ext cx="9601200" cy="5349240"/>
          </a:xfrm>
          <a:prstGeom prst="rect">
            <a:avLst/>
          </a:prstGeom>
          <a:solidFill>
            <a:srgbClr val="F7F8FC"/>
          </a:solidFill>
          <a:ln w="9525">
            <a:solidFill>
              <a:srgbClr val="DCE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34107120" y="3246120"/>
            <a:ext cx="9601200" cy="320040"/>
          </a:xfrm>
          <a:prstGeom prst="rect">
            <a:avLst/>
          </a:prstGeom>
          <a:solidFill>
            <a:srgbClr val="1A1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34180271" y="3273552"/>
            <a:ext cx="9454896" cy="265176"/>
          </a:xfrm>
          <a:prstGeom prst="rect">
            <a:avLst/>
          </a:prstGeom>
          <a:noFill/>
        </p:spPr>
        <p:txBody>
          <a:bodyPr wrap="square">
            <a:spAutoFit/>
          </a:bodyPr>
          <a:lstStyle/>
          <a:p>
            <a:pPr algn="l"/>
            <a:r>
              <a:rPr sz="1000" b="1" i="0">
                <a:solidFill>
                  <a:srgbClr val="FFFFFF"/>
                </a:solidFill>
              </a:rPr>
              <a:t>CURRENT SYSTEM OVERVIEW</a:t>
            </a:r>
          </a:p>
        </p:txBody>
      </p:sp>
      <p:sp>
        <p:nvSpPr>
          <p:cNvPr id="91" name="TextBox 90"/>
          <p:cNvSpPr txBox="1"/>
          <p:nvPr/>
        </p:nvSpPr>
        <p:spPr>
          <a:xfrm>
            <a:off x="34198560" y="3639312"/>
            <a:ext cx="9418320" cy="537667"/>
          </a:xfrm>
          <a:prstGeom prst="rect">
            <a:avLst/>
          </a:prstGeom>
          <a:noFill/>
        </p:spPr>
        <p:txBody>
          <a:bodyPr wrap="square">
            <a:spAutoFit/>
          </a:bodyPr>
          <a:lstStyle/>
          <a:p>
            <a:pPr algn="l"/>
            <a:r>
              <a:rPr sz="1100" b="0" i="0">
                <a:solidFill>
                  <a:srgbClr val="111111"/>
                </a:solidFill>
              </a:rPr>
              <a:t>  2 Active Modules        3 Game Modes        6 Error Types</a:t>
            </a:r>
          </a:p>
        </p:txBody>
      </p:sp>
      <p:sp>
        <p:nvSpPr>
          <p:cNvPr id="92" name="TextBox 91"/>
          <p:cNvSpPr txBox="1"/>
          <p:nvPr/>
        </p:nvSpPr>
        <p:spPr>
          <a:xfrm>
            <a:off x="34198560" y="4131259"/>
            <a:ext cx="9418320" cy="537667"/>
          </a:xfrm>
          <a:prstGeom prst="rect">
            <a:avLst/>
          </a:prstGeom>
          <a:noFill/>
        </p:spPr>
        <p:txBody>
          <a:bodyPr wrap="square">
            <a:spAutoFit/>
          </a:bodyPr>
          <a:lstStyle/>
          <a:p>
            <a:pPr algn="l"/>
            <a:r>
              <a:rPr sz="1100" b="0" i="0">
                <a:solidFill>
                  <a:srgbClr val="111111"/>
                </a:solidFill>
              </a:rPr>
              <a:t/>
            </a:r>
          </a:p>
        </p:txBody>
      </p:sp>
      <p:sp>
        <p:nvSpPr>
          <p:cNvPr id="93" name="TextBox 92"/>
          <p:cNvSpPr txBox="1"/>
          <p:nvPr/>
        </p:nvSpPr>
        <p:spPr>
          <a:xfrm>
            <a:off x="34198560" y="4623206"/>
            <a:ext cx="9418320" cy="537667"/>
          </a:xfrm>
          <a:prstGeom prst="rect">
            <a:avLst/>
          </a:prstGeom>
          <a:noFill/>
        </p:spPr>
        <p:txBody>
          <a:bodyPr wrap="square">
            <a:spAutoFit/>
          </a:bodyPr>
          <a:lstStyle/>
          <a:p>
            <a:pPr algn="l"/>
            <a:r>
              <a:rPr sz="1100" b="0" i="0">
                <a:solidFill>
                  <a:srgbClr val="111111"/>
                </a:solidFill>
              </a:rPr>
              <a:t>SLL Module: 4 question types × 3 levels; Tutorial, Training,</a:t>
            </a:r>
          </a:p>
        </p:txBody>
      </p:sp>
      <p:sp>
        <p:nvSpPr>
          <p:cNvPr id="94" name="TextBox 93"/>
          <p:cNvSpPr txBox="1"/>
          <p:nvPr/>
        </p:nvSpPr>
        <p:spPr>
          <a:xfrm>
            <a:off x="34198560" y="5115153"/>
            <a:ext cx="9418320" cy="537667"/>
          </a:xfrm>
          <a:prstGeom prst="rect">
            <a:avLst/>
          </a:prstGeom>
          <a:noFill/>
        </p:spPr>
        <p:txBody>
          <a:bodyPr wrap="square">
            <a:spAutoFit/>
          </a:bodyPr>
          <a:lstStyle/>
          <a:p>
            <a:pPr algn="l"/>
            <a:r>
              <a:rPr sz="1100" b="0" i="0">
                <a:solidFill>
                  <a:srgbClr val="111111"/>
                </a:solidFill>
              </a:rPr>
              <a:t>            Challenge, and Sort modes</a:t>
            </a:r>
          </a:p>
        </p:txBody>
      </p:sp>
      <p:sp>
        <p:nvSpPr>
          <p:cNvPr id="95" name="TextBox 94"/>
          <p:cNvSpPr txBox="1"/>
          <p:nvPr/>
        </p:nvSpPr>
        <p:spPr>
          <a:xfrm>
            <a:off x="34198560" y="5607100"/>
            <a:ext cx="9418320" cy="537667"/>
          </a:xfrm>
          <a:prstGeom prst="rect">
            <a:avLst/>
          </a:prstGeom>
          <a:noFill/>
        </p:spPr>
        <p:txBody>
          <a:bodyPr wrap="square">
            <a:spAutoFit/>
          </a:bodyPr>
          <a:lstStyle/>
          <a:p>
            <a:pPr algn="l"/>
            <a:r>
              <a:rPr sz="1100" b="0" i="0">
                <a:solidFill>
                  <a:srgbClr val="111111"/>
                </a:solidFill>
              </a:rPr>
              <a:t/>
            </a:r>
          </a:p>
        </p:txBody>
      </p:sp>
      <p:sp>
        <p:nvSpPr>
          <p:cNvPr id="96" name="TextBox 95"/>
          <p:cNvSpPr txBox="1"/>
          <p:nvPr/>
        </p:nvSpPr>
        <p:spPr>
          <a:xfrm>
            <a:off x="34198560" y="6099048"/>
            <a:ext cx="9418320" cy="537667"/>
          </a:xfrm>
          <a:prstGeom prst="rect">
            <a:avLst/>
          </a:prstGeom>
          <a:noFill/>
        </p:spPr>
        <p:txBody>
          <a:bodyPr wrap="square">
            <a:spAutoFit/>
          </a:bodyPr>
          <a:lstStyle/>
          <a:p>
            <a:pPr algn="l"/>
            <a:r>
              <a:rPr sz="1100" b="0" i="0">
                <a:solidFill>
                  <a:srgbClr val="111111"/>
                </a:solidFill>
              </a:rPr>
              <a:t>DLL Module: Bidirectional visualization; Level 3 combined</a:t>
            </a:r>
          </a:p>
        </p:txBody>
      </p:sp>
      <p:sp>
        <p:nvSpPr>
          <p:cNvPr id="97" name="TextBox 96"/>
          <p:cNvSpPr txBox="1"/>
          <p:nvPr/>
        </p:nvSpPr>
        <p:spPr>
          <a:xfrm>
            <a:off x="34198560" y="6590995"/>
            <a:ext cx="9418320" cy="537667"/>
          </a:xfrm>
          <a:prstGeom prst="rect">
            <a:avLst/>
          </a:prstGeom>
          <a:noFill/>
        </p:spPr>
        <p:txBody>
          <a:bodyPr wrap="square">
            <a:spAutoFit/>
          </a:bodyPr>
          <a:lstStyle/>
          <a:p>
            <a:pPr algn="l"/>
            <a:r>
              <a:rPr sz="1100" b="0" i="0">
                <a:solidFill>
                  <a:srgbClr val="111111"/>
                </a:solidFill>
              </a:rPr>
              <a:t>            operations; adaptive SLL suggestion modal</a:t>
            </a:r>
          </a:p>
        </p:txBody>
      </p:sp>
      <p:sp>
        <p:nvSpPr>
          <p:cNvPr id="98" name="TextBox 97"/>
          <p:cNvSpPr txBox="1"/>
          <p:nvPr/>
        </p:nvSpPr>
        <p:spPr>
          <a:xfrm>
            <a:off x="34198560" y="7082942"/>
            <a:ext cx="9418320" cy="537667"/>
          </a:xfrm>
          <a:prstGeom prst="rect">
            <a:avLst/>
          </a:prstGeom>
          <a:noFill/>
        </p:spPr>
        <p:txBody>
          <a:bodyPr wrap="square">
            <a:spAutoFit/>
          </a:bodyPr>
          <a:lstStyle/>
          <a:p>
            <a:pPr algn="l"/>
            <a:r>
              <a:rPr sz="1100" b="0" i="0">
                <a:solidFill>
                  <a:srgbClr val="111111"/>
                </a:solidFill>
              </a:rPr>
              <a:t/>
            </a:r>
          </a:p>
        </p:txBody>
      </p:sp>
      <p:sp>
        <p:nvSpPr>
          <p:cNvPr id="99" name="TextBox 98"/>
          <p:cNvSpPr txBox="1"/>
          <p:nvPr/>
        </p:nvSpPr>
        <p:spPr>
          <a:xfrm>
            <a:off x="34198560" y="7574889"/>
            <a:ext cx="9418320" cy="537667"/>
          </a:xfrm>
          <a:prstGeom prst="rect">
            <a:avLst/>
          </a:prstGeom>
          <a:noFill/>
        </p:spPr>
        <p:txBody>
          <a:bodyPr wrap="square">
            <a:spAutoFit/>
          </a:bodyPr>
          <a:lstStyle/>
          <a:p>
            <a:pPr algn="l"/>
            <a:r>
              <a:rPr sz="1100" b="0" i="0">
                <a:solidFill>
                  <a:srgbClr val="111111"/>
                </a:solidFill>
              </a:rPr>
              <a:t>Planned:    Sorting, Tree, Graph — visible as locked nodes</a:t>
            </a:r>
          </a:p>
        </p:txBody>
      </p:sp>
      <p:sp>
        <p:nvSpPr>
          <p:cNvPr id="100" name="TextBox 99"/>
          <p:cNvSpPr txBox="1"/>
          <p:nvPr/>
        </p:nvSpPr>
        <p:spPr>
          <a:xfrm>
            <a:off x="34198560" y="8066836"/>
            <a:ext cx="9418320" cy="537667"/>
          </a:xfrm>
          <a:prstGeom prst="rect">
            <a:avLst/>
          </a:prstGeom>
          <a:noFill/>
        </p:spPr>
        <p:txBody>
          <a:bodyPr wrap="square">
            <a:spAutoFit/>
          </a:bodyPr>
          <a:lstStyle/>
          <a:p>
            <a:pPr algn="l"/>
            <a:r>
              <a:rPr sz="1100" b="0" i="0">
                <a:solidFill>
                  <a:srgbClr val="111111"/>
                </a:solidFill>
              </a:rPr>
              <a:t>            on the module selection path</a:t>
            </a:r>
          </a:p>
        </p:txBody>
      </p:sp>
      <p:sp>
        <p:nvSpPr>
          <p:cNvPr id="101" name="Rectangle 100"/>
          <p:cNvSpPr/>
          <p:nvPr/>
        </p:nvSpPr>
        <p:spPr>
          <a:xfrm>
            <a:off x="34107120" y="8823960"/>
            <a:ext cx="9601200" cy="4892040"/>
          </a:xfrm>
          <a:prstGeom prst="rect">
            <a:avLst/>
          </a:prstGeom>
          <a:solidFill>
            <a:srgbClr val="F7F8FC"/>
          </a:solidFill>
          <a:ln w="9525">
            <a:solidFill>
              <a:srgbClr val="DCE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34107120" y="8823960"/>
            <a:ext cx="9601200" cy="320040"/>
          </a:xfrm>
          <a:prstGeom prst="rect">
            <a:avLst/>
          </a:prstGeom>
          <a:solidFill>
            <a:srgbClr val="1A1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34180271" y="8851392"/>
            <a:ext cx="9454896" cy="265176"/>
          </a:xfrm>
          <a:prstGeom prst="rect">
            <a:avLst/>
          </a:prstGeom>
          <a:noFill/>
        </p:spPr>
        <p:txBody>
          <a:bodyPr wrap="square">
            <a:spAutoFit/>
          </a:bodyPr>
          <a:lstStyle/>
          <a:p>
            <a:pPr algn="l"/>
            <a:r>
              <a:rPr sz="1000" b="1" i="0">
                <a:solidFill>
                  <a:srgbClr val="FFFFFF"/>
                </a:solidFill>
              </a:rPr>
              <a:t>ERROR TAXONOMY (EDUCATIONAL DESIGN)</a:t>
            </a:r>
          </a:p>
        </p:txBody>
      </p:sp>
      <p:sp>
        <p:nvSpPr>
          <p:cNvPr id="104" name="TextBox 103"/>
          <p:cNvSpPr txBox="1"/>
          <p:nvPr/>
        </p:nvSpPr>
        <p:spPr>
          <a:xfrm>
            <a:off x="34198560" y="9217152"/>
            <a:ext cx="9418320" cy="541528"/>
          </a:xfrm>
          <a:prstGeom prst="rect">
            <a:avLst/>
          </a:prstGeom>
          <a:noFill/>
        </p:spPr>
        <p:txBody>
          <a:bodyPr wrap="square">
            <a:spAutoFit/>
          </a:bodyPr>
          <a:lstStyle/>
          <a:p>
            <a:pPr algn="l"/>
            <a:r>
              <a:rPr sz="1100" b="0" i="0">
                <a:solidFill>
                  <a:srgbClr val="111111"/>
                </a:solidFill>
              </a:rPr>
              <a:t>Six categories map to distinct cognitive misconceptions:</a:t>
            </a:r>
          </a:p>
        </p:txBody>
      </p:sp>
      <p:sp>
        <p:nvSpPr>
          <p:cNvPr id="105" name="TextBox 104"/>
          <p:cNvSpPr txBox="1"/>
          <p:nvPr/>
        </p:nvSpPr>
        <p:spPr>
          <a:xfrm>
            <a:off x="34198560" y="9712960"/>
            <a:ext cx="9418320" cy="541528"/>
          </a:xfrm>
          <a:prstGeom prst="rect">
            <a:avLst/>
          </a:prstGeom>
          <a:noFill/>
        </p:spPr>
        <p:txBody>
          <a:bodyPr wrap="square">
            <a:spAutoFit/>
          </a:bodyPr>
          <a:lstStyle/>
          <a:p>
            <a:pPr algn="l"/>
            <a:r>
              <a:rPr sz="1100" b="0" i="0">
                <a:solidFill>
                  <a:srgbClr val="111111"/>
                </a:solidFill>
              </a:rPr>
              <a:t/>
            </a:r>
          </a:p>
        </p:txBody>
      </p:sp>
      <p:sp>
        <p:nvSpPr>
          <p:cNvPr id="106" name="TextBox 105"/>
          <p:cNvSpPr txBox="1"/>
          <p:nvPr/>
        </p:nvSpPr>
        <p:spPr>
          <a:xfrm>
            <a:off x="34198560" y="10208768"/>
            <a:ext cx="9418320" cy="541528"/>
          </a:xfrm>
          <a:prstGeom prst="rect">
            <a:avLst/>
          </a:prstGeom>
          <a:noFill/>
        </p:spPr>
        <p:txBody>
          <a:bodyPr wrap="square">
            <a:spAutoFit/>
          </a:bodyPr>
          <a:lstStyle/>
          <a:p>
            <a:pPr algn="l"/>
            <a:r>
              <a:rPr sz="1100" b="0" i="0">
                <a:solidFill>
                  <a:srgbClr val="111111"/>
                </a:solidFill>
              </a:rPr>
              <a:t>  Lost Reference  ·  Off-by-One  ·  NULL Pointer</a:t>
            </a:r>
          </a:p>
        </p:txBody>
      </p:sp>
      <p:sp>
        <p:nvSpPr>
          <p:cNvPr id="107" name="TextBox 106"/>
          <p:cNvSpPr txBox="1"/>
          <p:nvPr/>
        </p:nvSpPr>
        <p:spPr>
          <a:xfrm>
            <a:off x="34198560" y="10704576"/>
            <a:ext cx="9418320" cy="541528"/>
          </a:xfrm>
          <a:prstGeom prst="rect">
            <a:avLst/>
          </a:prstGeom>
          <a:noFill/>
        </p:spPr>
        <p:txBody>
          <a:bodyPr wrap="square">
            <a:spAutoFit/>
          </a:bodyPr>
          <a:lstStyle/>
          <a:p>
            <a:pPr algn="l"/>
            <a:r>
              <a:rPr sz="1100" b="0" i="0">
                <a:solidFill>
                  <a:srgbClr val="111111"/>
                </a:solidFill>
              </a:rPr>
              <a:t>  Self-Loop  ·  Memory Leak  ·  Broken Prev (DLL only)</a:t>
            </a:r>
          </a:p>
        </p:txBody>
      </p:sp>
      <p:sp>
        <p:nvSpPr>
          <p:cNvPr id="108" name="TextBox 107"/>
          <p:cNvSpPr txBox="1"/>
          <p:nvPr/>
        </p:nvSpPr>
        <p:spPr>
          <a:xfrm>
            <a:off x="34198560" y="11200384"/>
            <a:ext cx="9418320" cy="541528"/>
          </a:xfrm>
          <a:prstGeom prst="rect">
            <a:avLst/>
          </a:prstGeom>
          <a:noFill/>
        </p:spPr>
        <p:txBody>
          <a:bodyPr wrap="square">
            <a:spAutoFit/>
          </a:bodyPr>
          <a:lstStyle/>
          <a:p>
            <a:pPr algn="l"/>
            <a:r>
              <a:rPr sz="1100" b="0" i="0">
                <a:solidFill>
                  <a:srgbClr val="111111"/>
                </a:solidFill>
              </a:rPr>
              <a:t/>
            </a:r>
          </a:p>
        </p:txBody>
      </p:sp>
      <p:sp>
        <p:nvSpPr>
          <p:cNvPr id="109" name="TextBox 108"/>
          <p:cNvSpPr txBox="1"/>
          <p:nvPr/>
        </p:nvSpPr>
        <p:spPr>
          <a:xfrm>
            <a:off x="34198560" y="11696192"/>
            <a:ext cx="9418320" cy="541528"/>
          </a:xfrm>
          <a:prstGeom prst="rect">
            <a:avLst/>
          </a:prstGeom>
          <a:noFill/>
        </p:spPr>
        <p:txBody>
          <a:bodyPr wrap="square">
            <a:spAutoFit/>
          </a:bodyPr>
          <a:lstStyle/>
          <a:p>
            <a:pPr algn="l"/>
            <a:r>
              <a:rPr sz="1100" b="0" i="0">
                <a:solidFill>
                  <a:srgbClr val="111111"/>
                </a:solidFill>
              </a:rPr>
              <a:t>Type A errors (shared with SLL) trigger adaptive routing.</a:t>
            </a:r>
          </a:p>
        </p:txBody>
      </p:sp>
      <p:sp>
        <p:nvSpPr>
          <p:cNvPr id="110" name="TextBox 109"/>
          <p:cNvSpPr txBox="1"/>
          <p:nvPr/>
        </p:nvSpPr>
        <p:spPr>
          <a:xfrm>
            <a:off x="34198560" y="12191999"/>
            <a:ext cx="9418320" cy="541528"/>
          </a:xfrm>
          <a:prstGeom prst="rect">
            <a:avLst/>
          </a:prstGeom>
          <a:noFill/>
        </p:spPr>
        <p:txBody>
          <a:bodyPr wrap="square">
            <a:spAutoFit/>
          </a:bodyPr>
          <a:lstStyle/>
          <a:p>
            <a:pPr algn="l"/>
            <a:r>
              <a:rPr sz="1100" b="0" i="0">
                <a:solidFill>
                  <a:srgbClr val="111111"/>
                </a:solidFill>
              </a:rPr>
              <a:t>Type B errors (DLL-specific) trigger targeted hints only.</a:t>
            </a:r>
          </a:p>
        </p:txBody>
      </p:sp>
      <p:sp>
        <p:nvSpPr>
          <p:cNvPr id="111" name="TextBox 110"/>
          <p:cNvSpPr txBox="1"/>
          <p:nvPr/>
        </p:nvSpPr>
        <p:spPr>
          <a:xfrm>
            <a:off x="34198560" y="12687808"/>
            <a:ext cx="9418320" cy="541528"/>
          </a:xfrm>
          <a:prstGeom prst="rect">
            <a:avLst/>
          </a:prstGeom>
          <a:noFill/>
        </p:spPr>
        <p:txBody>
          <a:bodyPr wrap="square">
            <a:spAutoFit/>
          </a:bodyPr>
          <a:lstStyle/>
          <a:p>
            <a:pPr algn="l"/>
            <a:r>
              <a:rPr sz="1100" b="0" i="0">
                <a:solidFill>
                  <a:srgbClr val="111111"/>
                </a:solidFill>
              </a:rPr>
              <a:t>Distractors enforce: single line, consistent variable names,</a:t>
            </a:r>
          </a:p>
        </p:txBody>
      </p:sp>
      <p:sp>
        <p:nvSpPr>
          <p:cNvPr id="112" name="TextBox 111"/>
          <p:cNvSpPr txBox="1"/>
          <p:nvPr/>
        </p:nvSpPr>
        <p:spPr>
          <a:xfrm>
            <a:off x="34198560" y="13183616"/>
            <a:ext cx="9418320" cy="541528"/>
          </a:xfrm>
          <a:prstGeom prst="rect">
            <a:avLst/>
          </a:prstGeom>
          <a:noFill/>
        </p:spPr>
        <p:txBody>
          <a:bodyPr wrap="square">
            <a:spAutoFit/>
          </a:bodyPr>
          <a:lstStyle/>
          <a:p>
            <a:pPr algn="l"/>
            <a:r>
              <a:rPr sz="1100" b="0" i="0">
                <a:solidFill>
                  <a:srgbClr val="111111"/>
                </a:solidFill>
              </a:rPr>
              <a:t>and semantically meaningful wrong answers.</a:t>
            </a:r>
          </a:p>
        </p:txBody>
      </p:sp>
      <p:sp>
        <p:nvSpPr>
          <p:cNvPr id="113" name="Rectangle 112"/>
          <p:cNvSpPr/>
          <p:nvPr/>
        </p:nvSpPr>
        <p:spPr>
          <a:xfrm>
            <a:off x="34107120" y="13944600"/>
            <a:ext cx="9601200" cy="5074920"/>
          </a:xfrm>
          <a:prstGeom prst="rect">
            <a:avLst/>
          </a:prstGeom>
          <a:solidFill>
            <a:srgbClr val="F7F8FC"/>
          </a:solidFill>
          <a:ln w="9525">
            <a:solidFill>
              <a:srgbClr val="DCE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34107120" y="13944600"/>
            <a:ext cx="9601200" cy="320040"/>
          </a:xfrm>
          <a:prstGeom prst="rect">
            <a:avLst/>
          </a:prstGeom>
          <a:solidFill>
            <a:srgbClr val="1A1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34180271" y="13972032"/>
            <a:ext cx="9454896" cy="265176"/>
          </a:xfrm>
          <a:prstGeom prst="rect">
            <a:avLst/>
          </a:prstGeom>
          <a:noFill/>
        </p:spPr>
        <p:txBody>
          <a:bodyPr wrap="square">
            <a:spAutoFit/>
          </a:bodyPr>
          <a:lstStyle/>
          <a:p>
            <a:pPr algn="l"/>
            <a:r>
              <a:rPr sz="1000" b="1" i="0">
                <a:solidFill>
                  <a:srgbClr val="FFFFFF"/>
                </a:solidFill>
              </a:rPr>
              <a:t>KEY DESIGN INSIGHTS</a:t>
            </a:r>
          </a:p>
        </p:txBody>
      </p:sp>
      <p:sp>
        <p:nvSpPr>
          <p:cNvPr id="116" name="TextBox 115"/>
          <p:cNvSpPr txBox="1"/>
          <p:nvPr/>
        </p:nvSpPr>
        <p:spPr>
          <a:xfrm>
            <a:off x="34198560" y="14337792"/>
            <a:ext cx="9418320" cy="468006"/>
          </a:xfrm>
          <a:prstGeom prst="rect">
            <a:avLst/>
          </a:prstGeom>
          <a:noFill/>
        </p:spPr>
        <p:txBody>
          <a:bodyPr wrap="square">
            <a:spAutoFit/>
          </a:bodyPr>
          <a:lstStyle/>
          <a:p>
            <a:pPr algn="l"/>
            <a:r>
              <a:rPr sz="1100" b="0" i="0">
                <a:solidFill>
                  <a:srgbClr val="111111"/>
                </a:solidFill>
              </a:rPr>
              <a:t>Adaptive routing: Must feel like a player's decision —</a:t>
            </a:r>
          </a:p>
        </p:txBody>
      </p:sp>
      <p:sp>
        <p:nvSpPr>
          <p:cNvPr id="117" name="TextBox 116"/>
          <p:cNvSpPr txBox="1"/>
          <p:nvPr/>
        </p:nvSpPr>
        <p:spPr>
          <a:xfrm>
            <a:off x="34198560" y="14760078"/>
            <a:ext cx="9418320" cy="468006"/>
          </a:xfrm>
          <a:prstGeom prst="rect">
            <a:avLst/>
          </a:prstGeom>
          <a:noFill/>
        </p:spPr>
        <p:txBody>
          <a:bodyPr wrap="square">
            <a:spAutoFit/>
          </a:bodyPr>
          <a:lstStyle/>
          <a:p>
            <a:pPr algn="l"/>
            <a:r>
              <a:rPr sz="1100" b="0" i="0">
                <a:solidFill>
                  <a:srgbClr val="111111"/>
                </a:solidFill>
              </a:rPr>
              <a:t>framing matters as much as the mechanism itself.</a:t>
            </a:r>
          </a:p>
        </p:txBody>
      </p:sp>
      <p:sp>
        <p:nvSpPr>
          <p:cNvPr id="118" name="TextBox 117"/>
          <p:cNvSpPr txBox="1"/>
          <p:nvPr/>
        </p:nvSpPr>
        <p:spPr>
          <a:xfrm>
            <a:off x="34198560" y="15182365"/>
            <a:ext cx="9418320" cy="468006"/>
          </a:xfrm>
          <a:prstGeom prst="rect">
            <a:avLst/>
          </a:prstGeom>
          <a:noFill/>
        </p:spPr>
        <p:txBody>
          <a:bodyPr wrap="square">
            <a:spAutoFit/>
          </a:bodyPr>
          <a:lstStyle/>
          <a:p>
            <a:pPr algn="l"/>
            <a:r>
              <a:rPr sz="1100" b="0" i="0">
                <a:solidFill>
                  <a:srgbClr val="111111"/>
                </a:solidFill>
              </a:rPr>
              <a:t/>
            </a:r>
          </a:p>
        </p:txBody>
      </p:sp>
      <p:sp>
        <p:nvSpPr>
          <p:cNvPr id="119" name="TextBox 118"/>
          <p:cNvSpPr txBox="1"/>
          <p:nvPr/>
        </p:nvSpPr>
        <p:spPr>
          <a:xfrm>
            <a:off x="34198560" y="15604651"/>
            <a:ext cx="9418320" cy="468006"/>
          </a:xfrm>
          <a:prstGeom prst="rect">
            <a:avLst/>
          </a:prstGeom>
          <a:noFill/>
        </p:spPr>
        <p:txBody>
          <a:bodyPr wrap="square">
            <a:spAutoFit/>
          </a:bodyPr>
          <a:lstStyle/>
          <a:p>
            <a:pPr algn="l"/>
            <a:r>
              <a:rPr sz="1100" b="0" i="0">
                <a:solidFill>
                  <a:srgbClr val="111111"/>
                </a:solidFill>
              </a:rPr>
              <a:t>Scaffolding order: Concept → guided practice → on-demand</a:t>
            </a:r>
          </a:p>
        </p:txBody>
      </p:sp>
      <p:sp>
        <p:nvSpPr>
          <p:cNvPr id="120" name="TextBox 119"/>
          <p:cNvSpPr txBox="1"/>
          <p:nvPr/>
        </p:nvSpPr>
        <p:spPr>
          <a:xfrm>
            <a:off x="34198560" y="16026938"/>
            <a:ext cx="9418320" cy="468006"/>
          </a:xfrm>
          <a:prstGeom prst="rect">
            <a:avLst/>
          </a:prstGeom>
          <a:noFill/>
        </p:spPr>
        <p:txBody>
          <a:bodyPr wrap="square">
            <a:spAutoFit/>
          </a:bodyPr>
          <a:lstStyle/>
          <a:p>
            <a:pPr algn="l"/>
            <a:r>
              <a:rPr sz="1100" b="0" i="0">
                <a:solidFill>
                  <a:srgbClr val="111111"/>
                </a:solidFill>
              </a:rPr>
              <a:t>hints → independent challenge reduces cognitive overload.</a:t>
            </a:r>
          </a:p>
        </p:txBody>
      </p:sp>
      <p:sp>
        <p:nvSpPr>
          <p:cNvPr id="121" name="TextBox 120"/>
          <p:cNvSpPr txBox="1"/>
          <p:nvPr/>
        </p:nvSpPr>
        <p:spPr>
          <a:xfrm>
            <a:off x="34198560" y="16449224"/>
            <a:ext cx="9418320" cy="468006"/>
          </a:xfrm>
          <a:prstGeom prst="rect">
            <a:avLst/>
          </a:prstGeom>
          <a:noFill/>
        </p:spPr>
        <p:txBody>
          <a:bodyPr wrap="square">
            <a:spAutoFit/>
          </a:bodyPr>
          <a:lstStyle/>
          <a:p>
            <a:pPr algn="l"/>
            <a:r>
              <a:rPr sz="1100" b="0" i="0">
                <a:solidFill>
                  <a:srgbClr val="111111"/>
                </a:solidFill>
              </a:rPr>
              <a:t/>
            </a:r>
          </a:p>
        </p:txBody>
      </p:sp>
      <p:sp>
        <p:nvSpPr>
          <p:cNvPr id="122" name="TextBox 121"/>
          <p:cNvSpPr txBox="1"/>
          <p:nvPr/>
        </p:nvSpPr>
        <p:spPr>
          <a:xfrm>
            <a:off x="34198560" y="16871511"/>
            <a:ext cx="9418320" cy="468006"/>
          </a:xfrm>
          <a:prstGeom prst="rect">
            <a:avLst/>
          </a:prstGeom>
          <a:noFill/>
        </p:spPr>
        <p:txBody>
          <a:bodyPr wrap="square">
            <a:spAutoFit/>
          </a:bodyPr>
          <a:lstStyle/>
          <a:p>
            <a:pPr algn="l"/>
            <a:r>
              <a:rPr sz="1100" b="0" i="0">
                <a:solidFill>
                  <a:srgbClr val="111111"/>
                </a:solidFill>
              </a:rPr>
              <a:t>Gamification: Long-term investment (pet evolution) sustains</a:t>
            </a:r>
          </a:p>
        </p:txBody>
      </p:sp>
      <p:sp>
        <p:nvSpPr>
          <p:cNvPr id="123" name="TextBox 122"/>
          <p:cNvSpPr txBox="1"/>
          <p:nvPr/>
        </p:nvSpPr>
        <p:spPr>
          <a:xfrm>
            <a:off x="34198560" y="17293797"/>
            <a:ext cx="9418320" cy="468006"/>
          </a:xfrm>
          <a:prstGeom prst="rect">
            <a:avLst/>
          </a:prstGeom>
          <a:noFill/>
        </p:spPr>
        <p:txBody>
          <a:bodyPr wrap="square">
            <a:spAutoFit/>
          </a:bodyPr>
          <a:lstStyle/>
          <a:p>
            <a:pPr algn="l"/>
            <a:r>
              <a:rPr sz="1100" b="0" i="0">
                <a:solidFill>
                  <a:srgbClr val="111111"/>
                </a:solidFill>
              </a:rPr>
              <a:t>motivation beyond immediate task rewards.</a:t>
            </a:r>
          </a:p>
        </p:txBody>
      </p:sp>
      <p:sp>
        <p:nvSpPr>
          <p:cNvPr id="124" name="TextBox 123"/>
          <p:cNvSpPr txBox="1"/>
          <p:nvPr/>
        </p:nvSpPr>
        <p:spPr>
          <a:xfrm>
            <a:off x="34198560" y="17716084"/>
            <a:ext cx="9418320" cy="468006"/>
          </a:xfrm>
          <a:prstGeom prst="rect">
            <a:avLst/>
          </a:prstGeom>
          <a:noFill/>
        </p:spPr>
        <p:txBody>
          <a:bodyPr wrap="square">
            <a:spAutoFit/>
          </a:bodyPr>
          <a:lstStyle/>
          <a:p>
            <a:pPr algn="l"/>
            <a:r>
              <a:rPr sz="1100" b="0" i="0">
                <a:solidFill>
                  <a:srgbClr val="111111"/>
                </a:solidFill>
              </a:rPr>
              <a:t/>
            </a:r>
          </a:p>
        </p:txBody>
      </p:sp>
      <p:sp>
        <p:nvSpPr>
          <p:cNvPr id="125" name="TextBox 124"/>
          <p:cNvSpPr txBox="1"/>
          <p:nvPr/>
        </p:nvSpPr>
        <p:spPr>
          <a:xfrm>
            <a:off x="34198560" y="18138370"/>
            <a:ext cx="9418320" cy="468006"/>
          </a:xfrm>
          <a:prstGeom prst="rect">
            <a:avLst/>
          </a:prstGeom>
          <a:noFill/>
        </p:spPr>
        <p:txBody>
          <a:bodyPr wrap="square">
            <a:spAutoFit/>
          </a:bodyPr>
          <a:lstStyle/>
          <a:p>
            <a:pPr algn="l"/>
            <a:r>
              <a:rPr sz="1100" b="0" i="0">
                <a:solidFill>
                  <a:srgbClr val="111111"/>
                </a:solidFill>
              </a:rPr>
              <a:t>Error quality: Distractors must encode real misconceptions;</a:t>
            </a:r>
          </a:p>
        </p:txBody>
      </p:sp>
      <p:sp>
        <p:nvSpPr>
          <p:cNvPr id="126" name="TextBox 125"/>
          <p:cNvSpPr txBox="1"/>
          <p:nvPr/>
        </p:nvSpPr>
        <p:spPr>
          <a:xfrm>
            <a:off x="34198560" y="18560657"/>
            <a:ext cx="9418320" cy="468006"/>
          </a:xfrm>
          <a:prstGeom prst="rect">
            <a:avLst/>
          </a:prstGeom>
          <a:noFill/>
        </p:spPr>
        <p:txBody>
          <a:bodyPr wrap="square">
            <a:spAutoFit/>
          </a:bodyPr>
          <a:lstStyle/>
          <a:p>
            <a:pPr algn="l"/>
            <a:r>
              <a:rPr sz="1100" b="0" i="0">
                <a:solidFill>
                  <a:srgbClr val="111111"/>
                </a:solidFill>
              </a:rPr>
              <a:t>generic wrong answers provide no learning signal.</a:t>
            </a:r>
          </a:p>
        </p:txBody>
      </p:sp>
      <p:sp>
        <p:nvSpPr>
          <p:cNvPr id="127" name="Rectangle 126"/>
          <p:cNvSpPr/>
          <p:nvPr/>
        </p:nvSpPr>
        <p:spPr>
          <a:xfrm>
            <a:off x="34107120" y="19248120"/>
            <a:ext cx="9601200" cy="5623559"/>
          </a:xfrm>
          <a:prstGeom prst="rect">
            <a:avLst/>
          </a:prstGeom>
          <a:solidFill>
            <a:srgbClr val="F7F8FC"/>
          </a:solidFill>
          <a:ln w="9525">
            <a:solidFill>
              <a:srgbClr val="DCE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34107120" y="19248120"/>
            <a:ext cx="9601200" cy="320040"/>
          </a:xfrm>
          <a:prstGeom prst="rect">
            <a:avLst/>
          </a:prstGeom>
          <a:solidFill>
            <a:srgbClr val="1A1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34180271" y="19275552"/>
            <a:ext cx="9454896" cy="265176"/>
          </a:xfrm>
          <a:prstGeom prst="rect">
            <a:avLst/>
          </a:prstGeom>
          <a:noFill/>
        </p:spPr>
        <p:txBody>
          <a:bodyPr wrap="square">
            <a:spAutoFit/>
          </a:bodyPr>
          <a:lstStyle/>
          <a:p>
            <a:pPr algn="l"/>
            <a:r>
              <a:rPr sz="1000" b="1" i="0">
                <a:solidFill>
                  <a:srgbClr val="FFFFFF"/>
                </a:solidFill>
              </a:rPr>
              <a:t>CONCLUSIONS</a:t>
            </a:r>
          </a:p>
        </p:txBody>
      </p:sp>
      <p:sp>
        <p:nvSpPr>
          <p:cNvPr id="130" name="TextBox 129"/>
          <p:cNvSpPr txBox="1"/>
          <p:nvPr/>
        </p:nvSpPr>
        <p:spPr>
          <a:xfrm>
            <a:off x="34198560" y="19641312"/>
            <a:ext cx="9418320" cy="478536"/>
          </a:xfrm>
          <a:prstGeom prst="rect">
            <a:avLst/>
          </a:prstGeom>
          <a:noFill/>
        </p:spPr>
        <p:txBody>
          <a:bodyPr wrap="square">
            <a:spAutoFit/>
          </a:bodyPr>
          <a:lstStyle/>
          <a:p>
            <a:pPr algn="l"/>
            <a:r>
              <a:rPr sz="1100" b="0" i="0">
                <a:solidFill>
                  <a:srgbClr val="111111"/>
                </a:solidFill>
              </a:rPr>
              <a:t>This project demonstrates that a research-driven iterative</a:t>
            </a:r>
          </a:p>
        </p:txBody>
      </p:sp>
      <p:sp>
        <p:nvSpPr>
          <p:cNvPr id="131" name="TextBox 130"/>
          <p:cNvSpPr txBox="1"/>
          <p:nvPr/>
        </p:nvSpPr>
        <p:spPr>
          <a:xfrm>
            <a:off x="34198560" y="20074128"/>
            <a:ext cx="9418320" cy="478536"/>
          </a:xfrm>
          <a:prstGeom prst="rect">
            <a:avLst/>
          </a:prstGeom>
          <a:noFill/>
        </p:spPr>
        <p:txBody>
          <a:bodyPr wrap="square">
            <a:spAutoFit/>
          </a:bodyPr>
          <a:lstStyle/>
          <a:p>
            <a:pPr algn="l"/>
            <a:r>
              <a:rPr sz="1100" b="0" i="0">
                <a:solidFill>
                  <a:srgbClr val="111111"/>
                </a:solidFill>
              </a:rPr>
              <a:t>process — grounded in literature review and instructor</a:t>
            </a:r>
          </a:p>
        </p:txBody>
      </p:sp>
      <p:sp>
        <p:nvSpPr>
          <p:cNvPr id="132" name="TextBox 131"/>
          <p:cNvSpPr txBox="1"/>
          <p:nvPr/>
        </p:nvSpPr>
        <p:spPr>
          <a:xfrm>
            <a:off x="34198560" y="20506944"/>
            <a:ext cx="9418320" cy="478536"/>
          </a:xfrm>
          <a:prstGeom prst="rect">
            <a:avLst/>
          </a:prstGeom>
          <a:noFill/>
        </p:spPr>
        <p:txBody>
          <a:bodyPr wrap="square">
            <a:spAutoFit/>
          </a:bodyPr>
          <a:lstStyle/>
          <a:p>
            <a:pPr algn="l"/>
            <a:r>
              <a:rPr sz="1100" b="0" i="0">
                <a:solidFill>
                  <a:srgbClr val="111111"/>
                </a:solidFill>
              </a:rPr>
              <a:t>feedback — can produce an educationally principled,</a:t>
            </a:r>
          </a:p>
        </p:txBody>
      </p:sp>
      <p:sp>
        <p:nvSpPr>
          <p:cNvPr id="133" name="TextBox 132"/>
          <p:cNvSpPr txBox="1"/>
          <p:nvPr/>
        </p:nvSpPr>
        <p:spPr>
          <a:xfrm>
            <a:off x="34198560" y="20939760"/>
            <a:ext cx="9418320" cy="478536"/>
          </a:xfrm>
          <a:prstGeom prst="rect">
            <a:avLst/>
          </a:prstGeom>
          <a:noFill/>
        </p:spPr>
        <p:txBody>
          <a:bodyPr wrap="square">
            <a:spAutoFit/>
          </a:bodyPr>
          <a:lstStyle/>
          <a:p>
            <a:pPr algn="l"/>
            <a:r>
              <a:rPr sz="1100" b="0" i="0">
                <a:solidFill>
                  <a:srgbClr val="111111"/>
                </a:solidFill>
              </a:rPr>
              <a:t>engaging gamified learning module.</a:t>
            </a:r>
          </a:p>
        </p:txBody>
      </p:sp>
      <p:sp>
        <p:nvSpPr>
          <p:cNvPr id="134" name="TextBox 133"/>
          <p:cNvSpPr txBox="1"/>
          <p:nvPr/>
        </p:nvSpPr>
        <p:spPr>
          <a:xfrm>
            <a:off x="34198560" y="21372576"/>
            <a:ext cx="9418320" cy="478536"/>
          </a:xfrm>
          <a:prstGeom prst="rect">
            <a:avLst/>
          </a:prstGeom>
          <a:noFill/>
        </p:spPr>
        <p:txBody>
          <a:bodyPr wrap="square">
            <a:spAutoFit/>
          </a:bodyPr>
          <a:lstStyle/>
          <a:p>
            <a:pPr algn="l"/>
            <a:r>
              <a:rPr sz="1100" b="0" i="0">
                <a:solidFill>
                  <a:srgbClr val="111111"/>
                </a:solidFill>
              </a:rPr>
              <a:t/>
            </a:r>
          </a:p>
        </p:txBody>
      </p:sp>
      <p:sp>
        <p:nvSpPr>
          <p:cNvPr id="135" name="TextBox 134"/>
          <p:cNvSpPr txBox="1"/>
          <p:nvPr/>
        </p:nvSpPr>
        <p:spPr>
          <a:xfrm>
            <a:off x="34198560" y="21805392"/>
            <a:ext cx="9418320" cy="478536"/>
          </a:xfrm>
          <a:prstGeom prst="rect">
            <a:avLst/>
          </a:prstGeom>
          <a:noFill/>
        </p:spPr>
        <p:txBody>
          <a:bodyPr wrap="square">
            <a:spAutoFit/>
          </a:bodyPr>
          <a:lstStyle/>
          <a:p>
            <a:pPr algn="l"/>
            <a:r>
              <a:rPr sz="1100" b="0" i="0">
                <a:solidFill>
                  <a:srgbClr val="111111"/>
                </a:solidFill>
              </a:rPr>
              <a:t>Key contributions:</a:t>
            </a:r>
          </a:p>
        </p:txBody>
      </p:sp>
      <p:sp>
        <p:nvSpPr>
          <p:cNvPr id="136" name="TextBox 135"/>
          <p:cNvSpPr txBox="1"/>
          <p:nvPr/>
        </p:nvSpPr>
        <p:spPr>
          <a:xfrm>
            <a:off x="34198560" y="22238208"/>
            <a:ext cx="9418320" cy="478536"/>
          </a:xfrm>
          <a:prstGeom prst="rect">
            <a:avLst/>
          </a:prstGeom>
          <a:noFill/>
        </p:spPr>
        <p:txBody>
          <a:bodyPr wrap="square">
            <a:spAutoFit/>
          </a:bodyPr>
          <a:lstStyle/>
          <a:p>
            <a:pPr algn="l"/>
            <a:r>
              <a:rPr sz="1100" b="0" i="0">
                <a:solidFill>
                  <a:srgbClr val="111111"/>
                </a:solidFill>
              </a:rPr>
              <a:t>• Six-category error taxonomy mapping game errors to</a:t>
            </a:r>
          </a:p>
        </p:txBody>
      </p:sp>
      <p:sp>
        <p:nvSpPr>
          <p:cNvPr id="137" name="TextBox 136"/>
          <p:cNvSpPr txBox="1"/>
          <p:nvPr/>
        </p:nvSpPr>
        <p:spPr>
          <a:xfrm>
            <a:off x="34198560" y="22671024"/>
            <a:ext cx="9418320" cy="478536"/>
          </a:xfrm>
          <a:prstGeom prst="rect">
            <a:avLst/>
          </a:prstGeom>
          <a:noFill/>
        </p:spPr>
        <p:txBody>
          <a:bodyPr wrap="square">
            <a:spAutoFit/>
          </a:bodyPr>
          <a:lstStyle/>
          <a:p>
            <a:pPr algn="l"/>
            <a:r>
              <a:rPr sz="1100" b="0" i="0">
                <a:solidFill>
                  <a:srgbClr val="111111"/>
                </a:solidFill>
              </a:rPr>
              <a:t>  real CS misconceptions</a:t>
            </a:r>
          </a:p>
        </p:txBody>
      </p:sp>
      <p:sp>
        <p:nvSpPr>
          <p:cNvPr id="138" name="TextBox 137"/>
          <p:cNvSpPr txBox="1"/>
          <p:nvPr/>
        </p:nvSpPr>
        <p:spPr>
          <a:xfrm>
            <a:off x="34198560" y="23103840"/>
            <a:ext cx="9418320" cy="478536"/>
          </a:xfrm>
          <a:prstGeom prst="rect">
            <a:avLst/>
          </a:prstGeom>
          <a:noFill/>
        </p:spPr>
        <p:txBody>
          <a:bodyPr wrap="square">
            <a:spAutoFit/>
          </a:bodyPr>
          <a:lstStyle/>
          <a:p>
            <a:pPr algn="l"/>
            <a:r>
              <a:rPr sz="1100" b="0" i="0">
                <a:solidFill>
                  <a:srgbClr val="111111"/>
                </a:solidFill>
              </a:rPr>
              <a:t>• Cross-module adaptive routing that preserves learner</a:t>
            </a:r>
          </a:p>
        </p:txBody>
      </p:sp>
      <p:sp>
        <p:nvSpPr>
          <p:cNvPr id="139" name="TextBox 138"/>
          <p:cNvSpPr txBox="1"/>
          <p:nvPr/>
        </p:nvSpPr>
        <p:spPr>
          <a:xfrm>
            <a:off x="34198560" y="23536656"/>
            <a:ext cx="9418320" cy="478536"/>
          </a:xfrm>
          <a:prstGeom prst="rect">
            <a:avLst/>
          </a:prstGeom>
          <a:noFill/>
        </p:spPr>
        <p:txBody>
          <a:bodyPr wrap="square">
            <a:spAutoFit/>
          </a:bodyPr>
          <a:lstStyle/>
          <a:p>
            <a:pPr algn="l"/>
            <a:r>
              <a:rPr sz="1100" b="0" i="0">
                <a:solidFill>
                  <a:srgbClr val="111111"/>
                </a:solidFill>
              </a:rPr>
              <a:t>  autonomy (player choice, not system redirect)</a:t>
            </a:r>
          </a:p>
        </p:txBody>
      </p:sp>
      <p:sp>
        <p:nvSpPr>
          <p:cNvPr id="140" name="TextBox 139"/>
          <p:cNvSpPr txBox="1"/>
          <p:nvPr/>
        </p:nvSpPr>
        <p:spPr>
          <a:xfrm>
            <a:off x="34198560" y="23969472"/>
            <a:ext cx="9418320" cy="478536"/>
          </a:xfrm>
          <a:prstGeom prst="rect">
            <a:avLst/>
          </a:prstGeom>
          <a:noFill/>
        </p:spPr>
        <p:txBody>
          <a:bodyPr wrap="square">
            <a:spAutoFit/>
          </a:bodyPr>
          <a:lstStyle/>
          <a:p>
            <a:pPr algn="l"/>
            <a:r>
              <a:rPr sz="1100" b="0" i="0">
                <a:solidFill>
                  <a:srgbClr val="111111"/>
                </a:solidFill>
              </a:rPr>
              <a:t>• Three-tier scaffolding bridging novice-to-practitioner</a:t>
            </a:r>
          </a:p>
        </p:txBody>
      </p:sp>
      <p:sp>
        <p:nvSpPr>
          <p:cNvPr id="141" name="TextBox 140"/>
          <p:cNvSpPr txBox="1"/>
          <p:nvPr/>
        </p:nvSpPr>
        <p:spPr>
          <a:xfrm>
            <a:off x="34198560" y="24402288"/>
            <a:ext cx="9418320" cy="478536"/>
          </a:xfrm>
          <a:prstGeom prst="rect">
            <a:avLst/>
          </a:prstGeom>
          <a:noFill/>
        </p:spPr>
        <p:txBody>
          <a:bodyPr wrap="square">
            <a:spAutoFit/>
          </a:bodyPr>
          <a:lstStyle/>
          <a:p>
            <a:pPr algn="l"/>
            <a:r>
              <a:rPr sz="1100" b="0" i="0">
                <a:solidFill>
                  <a:srgbClr val="111111"/>
                </a:solidFill>
              </a:rPr>
              <a:t>• Modular foundation extensible to Sorting, Tree, Graph</a:t>
            </a:r>
          </a:p>
        </p:txBody>
      </p:sp>
      <p:sp>
        <p:nvSpPr>
          <p:cNvPr id="142" name="Rectangle 141"/>
          <p:cNvSpPr/>
          <p:nvPr/>
        </p:nvSpPr>
        <p:spPr>
          <a:xfrm>
            <a:off x="34107120" y="25100280"/>
            <a:ext cx="9601200" cy="3977639"/>
          </a:xfrm>
          <a:prstGeom prst="rect">
            <a:avLst/>
          </a:prstGeom>
          <a:solidFill>
            <a:srgbClr val="F7F8FC"/>
          </a:solidFill>
          <a:ln w="9525">
            <a:solidFill>
              <a:srgbClr val="DCE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p:cNvSpPr/>
          <p:nvPr/>
        </p:nvSpPr>
        <p:spPr>
          <a:xfrm>
            <a:off x="34107120" y="25100280"/>
            <a:ext cx="9601200" cy="320040"/>
          </a:xfrm>
          <a:prstGeom prst="rect">
            <a:avLst/>
          </a:prstGeom>
          <a:solidFill>
            <a:srgbClr val="1A1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34180271" y="25127712"/>
            <a:ext cx="9454896" cy="265176"/>
          </a:xfrm>
          <a:prstGeom prst="rect">
            <a:avLst/>
          </a:prstGeom>
          <a:noFill/>
        </p:spPr>
        <p:txBody>
          <a:bodyPr wrap="square">
            <a:spAutoFit/>
          </a:bodyPr>
          <a:lstStyle/>
          <a:p>
            <a:pPr algn="l"/>
            <a:r>
              <a:rPr sz="1000" b="1" i="0">
                <a:solidFill>
                  <a:srgbClr val="FFFFFF"/>
                </a:solidFill>
              </a:rPr>
              <a:t>REFERENCES</a:t>
            </a:r>
          </a:p>
        </p:txBody>
      </p:sp>
      <p:sp>
        <p:nvSpPr>
          <p:cNvPr id="145" name="TextBox 144"/>
          <p:cNvSpPr txBox="1"/>
          <p:nvPr/>
        </p:nvSpPr>
        <p:spPr>
          <a:xfrm>
            <a:off x="34198560" y="25493472"/>
            <a:ext cx="9418320" cy="755294"/>
          </a:xfrm>
          <a:prstGeom prst="rect">
            <a:avLst/>
          </a:prstGeom>
          <a:noFill/>
        </p:spPr>
        <p:txBody>
          <a:bodyPr wrap="square">
            <a:spAutoFit/>
          </a:bodyPr>
          <a:lstStyle/>
          <a:p>
            <a:pPr algn="l"/>
            <a:r>
              <a:rPr sz="1000" b="0" i="0">
                <a:solidFill>
                  <a:srgbClr val="111111"/>
                </a:solidFill>
              </a:rPr>
              <a:t>Contrino et al. (2024). CogBooks adaptive learning. Ed. Tech. Research.</a:t>
            </a:r>
          </a:p>
        </p:txBody>
      </p:sp>
      <p:sp>
        <p:nvSpPr>
          <p:cNvPr id="146" name="TextBox 145"/>
          <p:cNvSpPr txBox="1"/>
          <p:nvPr/>
        </p:nvSpPr>
        <p:spPr>
          <a:xfrm>
            <a:off x="34198560" y="26203046"/>
            <a:ext cx="9418320" cy="755294"/>
          </a:xfrm>
          <a:prstGeom prst="rect">
            <a:avLst/>
          </a:prstGeom>
          <a:noFill/>
        </p:spPr>
        <p:txBody>
          <a:bodyPr wrap="square">
            <a:spAutoFit/>
          </a:bodyPr>
          <a:lstStyle/>
          <a:p>
            <a:pPr algn="l"/>
            <a:r>
              <a:rPr sz="1000" b="0" i="0">
                <a:solidFill>
                  <a:srgbClr val="111111"/>
                </a:solidFill>
              </a:rPr>
              <a:t>Duolingo Inc. (2024). Learning design principles. duolingo.com</a:t>
            </a:r>
          </a:p>
        </p:txBody>
      </p:sp>
      <p:sp>
        <p:nvSpPr>
          <p:cNvPr id="147" name="TextBox 146"/>
          <p:cNvSpPr txBox="1"/>
          <p:nvPr/>
        </p:nvSpPr>
        <p:spPr>
          <a:xfrm>
            <a:off x="34198560" y="26912620"/>
            <a:ext cx="9418320" cy="755294"/>
          </a:xfrm>
          <a:prstGeom prst="rect">
            <a:avLst/>
          </a:prstGeom>
          <a:noFill/>
        </p:spPr>
        <p:txBody>
          <a:bodyPr wrap="square">
            <a:spAutoFit/>
          </a:bodyPr>
          <a:lstStyle/>
          <a:p>
            <a:pPr algn="l"/>
            <a:r>
              <a:rPr sz="1000" b="0" i="0">
                <a:solidFill>
                  <a:srgbClr val="111111"/>
                </a:solidFill>
              </a:rPr>
              <a:t>Brilliant.org (2024). Interactive learning methodology. brilliant.org</a:t>
            </a:r>
          </a:p>
        </p:txBody>
      </p:sp>
      <p:sp>
        <p:nvSpPr>
          <p:cNvPr id="148" name="TextBox 147"/>
          <p:cNvSpPr txBox="1"/>
          <p:nvPr/>
        </p:nvSpPr>
        <p:spPr>
          <a:xfrm>
            <a:off x="34198560" y="27622195"/>
            <a:ext cx="9418320" cy="755294"/>
          </a:xfrm>
          <a:prstGeom prst="rect">
            <a:avLst/>
          </a:prstGeom>
          <a:noFill/>
        </p:spPr>
        <p:txBody>
          <a:bodyPr wrap="square">
            <a:spAutoFit/>
          </a:bodyPr>
          <a:lstStyle/>
          <a:p>
            <a:pPr algn="l"/>
            <a:r>
              <a:rPr sz="1000" b="0" i="0">
                <a:solidFill>
                  <a:srgbClr val="111111"/>
                </a:solidFill>
              </a:rPr>
              <a:t>Murali et al. (2025). BlockList: ACM SIGCSE TS 2025.</a:t>
            </a:r>
          </a:p>
        </p:txBody>
      </p:sp>
      <p:sp>
        <p:nvSpPr>
          <p:cNvPr id="149" name="TextBox 148"/>
          <p:cNvSpPr txBox="1"/>
          <p:nvPr/>
        </p:nvSpPr>
        <p:spPr>
          <a:xfrm>
            <a:off x="34198560" y="28331769"/>
            <a:ext cx="9418320" cy="755294"/>
          </a:xfrm>
          <a:prstGeom prst="rect">
            <a:avLst/>
          </a:prstGeom>
          <a:noFill/>
        </p:spPr>
        <p:txBody>
          <a:bodyPr wrap="square">
            <a:spAutoFit/>
          </a:bodyPr>
          <a:lstStyle/>
          <a:p>
            <a:pPr algn="l"/>
            <a:r>
              <a:rPr sz="1000" b="0" i="0">
                <a:solidFill>
                  <a:srgbClr val="111111"/>
                </a:solidFill>
              </a:rPr>
              <a:t>Kim &amp; Park (2022). Gamification in CS education. Computers &amp; Education.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